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1MYNnPYNzA29NPzmjUCVGTG9S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4B76D4-CA1A-4E0B-8EA1-AF1071EAB207}">
  <a:tblStyle styleId="{BA4B76D4-CA1A-4E0B-8EA1-AF1071EAB2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 2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12188952" cy="2139696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37744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lang="en-US"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Valtis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75488" y="10972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DCE4EC"/>
                </a:solidFill>
                <a:latin typeface="Arial"/>
                <a:ea typeface="Arial"/>
                <a:cs typeface="Arial"/>
                <a:sym typeface="Arial"/>
              </a:rPr>
              <a:t>Oncology Advisory Board — Productionization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75488" y="149961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0C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DB0C2"/>
                </a:solidFill>
                <a:latin typeface="Arial"/>
                <a:ea typeface="Arial"/>
                <a:cs typeface="Arial"/>
                <a:sym typeface="Arial"/>
              </a:rPr>
              <a:t>Frontdoor  ·  Grounded Output Generation  ·  Governed &amp; AWS-Native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90288" y="329184"/>
            <a:ext cx="0" cy="1481328"/>
          </a:xfrm>
          <a:prstGeom prst="straightConnector1">
            <a:avLst/>
          </a:prstGeom>
          <a:noFill/>
          <a:ln cap="flat" cmpd="sng" w="12700">
            <a:solidFill>
              <a:srgbClr val="3C556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shi_white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4432" y="274320"/>
            <a:ext cx="1481328" cy="320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banner_grad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08" y="310896"/>
            <a:ext cx="5074920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5029200" y="310896"/>
            <a:ext cx="4846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State &amp; What Phase 1 Delivers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882896" y="841248"/>
            <a:ext cx="685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E8EDF2"/>
                </a:solidFill>
                <a:latin typeface="Arial"/>
                <a:ea typeface="Arial"/>
                <a:cs typeface="Arial"/>
                <a:sym typeface="Arial"/>
              </a:rPr>
              <a:t>Valtis works today as a pilot — it has a knowledge layer but has no sign-in, no enterprise deployment, and no service surface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300"/>
              </a:spcBef>
              <a:spcAft>
                <a:spcPts val="0"/>
              </a:spcAft>
              <a:buClr>
                <a:srgbClr val="E8EDF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E8EDF2"/>
                </a:solidFill>
                <a:latin typeface="Arial"/>
                <a:ea typeface="Arial"/>
                <a:cs typeface="Arial"/>
                <a:sym typeface="Arial"/>
              </a:rPr>
              <a:t>AZ needs a usable frontdoor: sign in → pick a program → generate a deck/brief (or convene an advisory board) → download — simple enough to need no manual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300"/>
              </a:spcBef>
              <a:spcAft>
                <a:spcPts val="0"/>
              </a:spcAft>
              <a:buClr>
                <a:srgbClr val="E8EDF2"/>
              </a:buClr>
              <a:buSzPts val="880"/>
              <a:buFont typeface="Arial"/>
              <a:buChar char="•"/>
            </a:pPr>
            <a:r>
              <a:rPr lang="en-US" sz="880">
                <a:solidFill>
                  <a:srgbClr val="E8EDF2"/>
                </a:solidFill>
                <a:latin typeface="Arial"/>
                <a:ea typeface="Arial"/>
                <a:cs typeface="Arial"/>
                <a:sym typeface="Arial"/>
              </a:rPr>
              <a:t>Outputs must stay fail-closed: every material claim carries its source, drawing on the knowledge layer plus real-time competitor evidence; unsourced outputs are withheld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300"/>
              </a:spcBef>
              <a:spcAft>
                <a:spcPts val="0"/>
              </a:spcAft>
              <a:buClr>
                <a:srgbClr val="E8EDF2"/>
              </a:buClr>
              <a:buSzPts val="850"/>
              <a:buFont typeface="Arial"/>
              <a:buChar char="•"/>
            </a:pPr>
            <a:r>
              <a:rPr lang="en-US" sz="850">
                <a:solidFill>
                  <a:srgbClr val="E8EDF2"/>
                </a:solidFill>
                <a:latin typeface="Arial"/>
                <a:ea typeface="Arial"/>
                <a:cs typeface="Arial"/>
                <a:sym typeface="Arial"/>
              </a:rPr>
              <a:t>Phase 1 (12 weeks) delivers the secure deployment, sign-on, the frontdoor, and grounded deck/brief generation with export — plus a demonstrable advisory-board foundation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230428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2688336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productionize Valtis in place across three gated phases. Phase 1 stands up the enterprise shell (secure AWS deployment + SSO) and the product surface AZ cares about most: a frontdoor where an authenticated program leader generates a grounded, exportable program deck or brief — the AMG-193-style output — from the knowledge layer plus live competitor evidence. Governance, connectors and the full advisory board follow in Phases 2–3.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315968" y="230428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What Phase 1 Adds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315968" y="2602992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 Frontdoor &amp; UX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Sign in → select program → request output → download; report-generator buttons; honest waiting &amp; failure screens.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Grounded output generation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multi-slide program deck + competitive brief in fixed formats; fail-closed checks; export to PPTX/DOCX/PDF.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Real-time competitor evidence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CT.gov, PubMed, press/IR and web — dated, source-linked, feeding the generators.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Advisory-board foundation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simulated persona panel demonstrated over the knowledge layer (seed for Phases 2–3).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174736" y="230428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Business 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174736" y="2615184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 usable product in 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 leaders self-serve grounded decks and briefs in minutes — no manual required.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Trust by construction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Every claim cited; unsourced outputs withheld, never published broken.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Enterprise-ready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SSO, access roles, monitoring and audit; nothing leaves the AZ tenant.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 clear path to scale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10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Governed multi-user, connectors and the full advisory board follow in gated phases.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4681728"/>
            <a:ext cx="12188952" cy="1874520"/>
          </a:xfrm>
          <a:prstGeom prst="rect">
            <a:avLst/>
          </a:prstGeom>
          <a:solidFill>
            <a:srgbClr val="F3F4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57200" y="48463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Investment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57200" y="519379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3100"/>
              <a:buFont typeface="Arial"/>
              <a:buNone/>
            </a:pPr>
            <a:r>
              <a:rPr b="1" lang="en-US" sz="31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$343k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57200" y="5705856"/>
            <a:ext cx="22128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Phase 1 </a:t>
            </a:r>
            <a:r>
              <a:rPr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b="1"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 12 weeks</a:t>
            </a:r>
            <a:r>
              <a:rPr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, fixed fee.  Detailed Discovery sessions, securedeployment, authentication and sign-on. </a:t>
            </a:r>
            <a:r>
              <a:rPr i="1"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Full 3-phase roadmap ~ each phase gated for AZ decision </a:t>
            </a:r>
            <a:endParaRPr i="1" sz="800">
              <a:solidFill>
                <a:srgbClr val="6B74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61488" y="484632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Reverse Timeline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2761488" y="5175504"/>
            <a:ext cx="27614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Project Kickoff: </a:t>
            </a:r>
            <a:r>
              <a:rPr lang="en-US" sz="8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within 5 business days of SOW approval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Phase 1 Delivery: </a:t>
            </a:r>
            <a:r>
              <a:rPr lang="en-US" sz="8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12 weeks from kickoff, fixed scope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6B7480"/>
              </a:buClr>
              <a:buSzPts val="850"/>
              <a:buFont typeface="Arial"/>
              <a:buNone/>
            </a:pPr>
            <a:r>
              <a:rPr i="1" lang="en-US" sz="85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Discovery &amp; secure deploy wks 1–5; frontdoor + generators wks 4–10; SSO/AuthZ throughout; real-time evidence wks 5–9; SAB foundation wks 8–11; validation &amp; handover wk 12.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650992" y="484632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Success Factors &amp; Risk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650992" y="519379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Success Factors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650992" y="5413248"/>
            <a:ext cx="15727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Landing zone &amp; Postgres KL access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IdP/SAML + AI-Gateway ready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Frozen pilot corpus (Gate 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Prompts/rubrics under AZ authority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External-source egress allow-listed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242048" y="519379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Risks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242048" y="5413248"/>
            <a:ext cx="13990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MSA / confidentiality sign-off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CISO expectations &amp; cloud access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Source licensing (congress) open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Real-time source rate limits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SAB scope kept to demo in 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796528" y="4846320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Minimum Requirements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796528" y="5175504"/>
            <a:ext cx="2971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AWS Landing Zone: </a:t>
            </a:r>
            <a:r>
              <a:rPr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MASS account + contacts; ECR, Fargate, Secrets Mgr, S3, egress.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&amp; Model Access: </a:t>
            </a:r>
            <a:r>
              <a:rPr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migrated Postgres KL; approved LLM via AI-Gateway + token budget.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Content Authority: </a:t>
            </a:r>
            <a:r>
              <a:rPr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prompts, rubrics &amp; gates stay under AZ change control; frozen pilot corpus at Gate 1.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Decision Owner: </a:t>
            </a:r>
            <a:r>
              <a:rPr lang="en-US" sz="8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 AZ sponsor to confirm the one committed output &amp; fixed scope.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57200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Rough Order of Magnitude — v0.3 (draft)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Productionizing Valtis — From Pilot to Product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A single, staged progression. Phase 1 now delivers the frontdoor and grounded output generation — the product surface — alongside secure deployment.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1783080"/>
            <a:ext cx="2585466" cy="749808"/>
          </a:xfrm>
          <a:prstGeom prst="rect">
            <a:avLst/>
          </a:prstGeom>
          <a:solidFill>
            <a:srgbClr val="999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1792" y="1892808"/>
            <a:ext cx="23111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21792" y="2112264"/>
            <a:ext cx="23111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Working Pilot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2532888"/>
            <a:ext cx="2585466" cy="226771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1792" y="2697480"/>
            <a:ext cx="227457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Pre-built Knowledge Layer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Single-user, runs ad-hoc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Grounded answers, POC-grade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Sign-in/AuthZ/AuthN</a:t>
            </a:r>
            <a:endParaRPr/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deployment artifact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 "/>
              <a:buChar char="•"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validated Frontdoor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024378" y="19659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FC8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B7BF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353562" y="1783080"/>
            <a:ext cx="2585466" cy="749808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518154" y="1892808"/>
            <a:ext cx="23111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518154" y="2112264"/>
            <a:ext cx="23111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Product Surface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353562" y="2532888"/>
            <a:ext cx="2585466" cy="226771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518154" y="2697480"/>
            <a:ext cx="227457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Secure AWS deploy + SSO/AuthZ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Frontdoor + deck/brief generation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Real-time evidence · SAB foundation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920740" y="19659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FC8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B7BF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49924" y="1783080"/>
            <a:ext cx="2585466" cy="749808"/>
          </a:xfrm>
          <a:prstGeom prst="rect">
            <a:avLst/>
          </a:prstGeom>
          <a:solidFill>
            <a:srgbClr val="2E75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414516" y="1892808"/>
            <a:ext cx="23111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414516" y="2112264"/>
            <a:ext cx="23111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Governed Multi-User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249924" y="2532888"/>
            <a:ext cx="2585466" cy="226771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14516" y="2697480"/>
            <a:ext cx="227457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Entitlement, audit, sessions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SharePoint + BIKG connectors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SAB governed; pilot ≤50 SMEs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817102" y="19659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FC8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B7BF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146286" y="1783080"/>
            <a:ext cx="2585466" cy="749808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310878" y="1892808"/>
            <a:ext cx="23111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310878" y="2112264"/>
            <a:ext cx="23111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Extensible Platform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146286" y="2532888"/>
            <a:ext cx="2585466" cy="226771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310878" y="2697480"/>
            <a:ext cx="227457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Advanced templates + cache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Analytics; pluggable gateway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SAB advanced; scale to 500+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57200" y="5166360"/>
            <a:ext cx="11274552" cy="1097280"/>
          </a:xfrm>
          <a:prstGeom prst="roundRect">
            <a:avLst>
              <a:gd fmla="val 4167" name="adj"/>
            </a:avLst>
          </a:prstGeom>
          <a:solidFill>
            <a:srgbClr val="EAF1FA"/>
          </a:solidFill>
          <a:ln cap="flat" cmpd="sng" w="12700">
            <a:solidFill>
              <a:srgbClr val="2E75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76656" y="5276088"/>
            <a:ext cx="10817352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Why Phase 1 leads with the product surface:  </a:t>
            </a: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AZ's priority is a usable service — a program leader signing in and getting one approved, grounded deck. So Phase 1 pairs the enterprise shell (secure deploy + SSO) with the frontdoor and the grounded generators, and seeds the advisory-board experience. Governance and scale then harden a product that already delivers value.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Reference Architecture &amp; Data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Two decoupled paths inside AZ's cloud. Entitlement follows the user; grounding is enforced at the gate.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FE0EF"/>
                </a:solidFill>
                <a:latin typeface="Arial"/>
                <a:ea typeface="Arial"/>
                <a:cs typeface="Arial"/>
                <a:sym typeface="Arial"/>
              </a:rPr>
              <a:t>ASTRAZENECA CLOUD ENVIRONMENT  ·  DATA AND MODELS NEVER LEAVE THE TENANT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1801368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23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38234"/>
                </a:solidFill>
                <a:latin typeface="Arial"/>
                <a:ea typeface="Arial"/>
                <a:cs typeface="Arial"/>
                <a:sym typeface="Arial"/>
              </a:rPr>
              <a:t>INGESTION PATH  ·  built once, nothing enters unverified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2057400"/>
            <a:ext cx="194767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30352" y="2167128"/>
            <a:ext cx="1801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30352" y="2514600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congress · PubMed · CT.gov · PR/IR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404872" y="22402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788920" y="2057400"/>
            <a:ext cx="194767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862072" y="2167128"/>
            <a:ext cx="1801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862072" y="2514600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authority + corroboration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36592" y="22402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120640" y="2057400"/>
            <a:ext cx="1947672" cy="822960"/>
          </a:xfrm>
          <a:prstGeom prst="roundRect">
            <a:avLst>
              <a:gd fmla="val 5556" name="adj"/>
            </a:avLst>
          </a:prstGeom>
          <a:solidFill>
            <a:srgbClr val="22374C"/>
          </a:solidFill>
          <a:ln cap="flat" cmpd="sng" w="12700">
            <a:solidFill>
              <a:srgbClr val="223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193792" y="2167128"/>
            <a:ext cx="1801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193792" y="2514600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FE0E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FE0EF"/>
                </a:solidFill>
                <a:latin typeface="Arial"/>
                <a:ea typeface="Arial"/>
                <a:cs typeface="Arial"/>
                <a:sym typeface="Arial"/>
              </a:rPr>
              <a:t>deterministic · fail-closed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068312" y="22402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452360" y="2057400"/>
            <a:ext cx="194767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525512" y="2167128"/>
            <a:ext cx="1801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Build KG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525512" y="2514600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edges + qualifiers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400032" y="22402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784080" y="2057400"/>
            <a:ext cx="194767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857232" y="2167128"/>
            <a:ext cx="1801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Write KL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857232" y="2514600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provenance · RLS-scoped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57200" y="2926080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30"/>
              <a:buFont typeface="Arial"/>
              <a:buNone/>
            </a:pPr>
            <a:r>
              <a:rPr b="0" i="1" lang="en-US" sz="83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The gate is the safety mechanism — rule-based, reproducible, no LLM. Restricted or cross-wired claims never enter the knowledge layer.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3721608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GOVERNED QUERY PATH  ·  entitlement follows the user, grounding at the citation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572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303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AZ 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303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SSO + persona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016252" y="41605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4003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22374C"/>
          </a:solidFill>
          <a:ln cap="flat" cmpd="sng" w="12700">
            <a:solidFill>
              <a:srgbClr val="223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4734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Entitlement filter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4734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FE0E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FE0EF"/>
                </a:solidFill>
                <a:latin typeface="Arial"/>
                <a:ea typeface="Arial"/>
                <a:cs typeface="Arial"/>
                <a:sym typeface="Arial"/>
              </a:rPr>
              <a:t>only cleared docs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959352" y="41605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3434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4165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Retrieve + Rerank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4165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vector + metadata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902452" y="41605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2865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22374C"/>
          </a:solidFill>
          <a:ln cap="flat" cmpd="sng" w="12700">
            <a:solidFill>
              <a:srgbClr val="223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3596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 + Cite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3596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FE0E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FE0EF"/>
                </a:solidFill>
                <a:latin typeface="Arial"/>
                <a:ea typeface="Arial"/>
                <a:cs typeface="Arial"/>
                <a:sym typeface="Arial"/>
              </a:rPr>
              <a:t>ACL-redacted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845552" y="41605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82296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3027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3027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chat / structured</a:t>
            </a:r>
            <a:r>
              <a:rPr lang="en-US" sz="8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/reports/slide-decks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9788652" y="41605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EB6B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0172700" y="3977640"/>
            <a:ext cx="1559052" cy="822960"/>
          </a:xfrm>
          <a:prstGeom prst="roundRect">
            <a:avLst>
              <a:gd fmla="val 5556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0245852" y="4087368"/>
            <a:ext cx="14127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Audit + Meter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0245852" y="4434840"/>
            <a:ext cx="14127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log + tokens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57200" y="4846320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830"/>
              <a:buFont typeface="Arial"/>
              <a:buNone/>
            </a:pPr>
            <a:r>
              <a:rPr b="0" i="1" lang="en-US" sz="830" u="none" cap="none" strike="noStrike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Entitlement is enforced at retrieval, not left to the LLM; citations are redacted to the source ACL — closing the extract-leakage path.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57200" y="5806440"/>
            <a:ext cx="11274552" cy="566928"/>
          </a:xfrm>
          <a:prstGeom prst="roundRect">
            <a:avLst>
              <a:gd fmla="val 8065" name="adj"/>
            </a:avLst>
          </a:prstGeom>
          <a:solidFill>
            <a:srgbClr val="EAF1FA"/>
          </a:solidFill>
          <a:ln cap="flat" cmpd="sng" w="12700">
            <a:solidFill>
              <a:srgbClr val="2E75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40080" y="58064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Phasing: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Phase 1 delivers the query path behind SSO with basic citation</a:t>
            </a: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report generation, SAB foundation.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Phase 2 adds entitlement filtering, ACL-redacted grounding, </a:t>
            </a: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sharepoint connectors, audit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&amp; metering.   Phase 3 adds </a:t>
            </a: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configurable structured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outputs</a:t>
            </a:r>
            <a:r>
              <a:rPr lang="en-US" sz="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 advanced SAB, enterprise scale and</a:t>
            </a: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new source connectors.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b="0" i="0" lang="en-US" sz="85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The Frontdoor &amp; Grounded Output Generation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Phase 1 delivers the service surface and the generators behind it. The example output is an AMG-193-style program deck — every claim source-linked. Some UX proposals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s/02_home.png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320"/>
            <a:ext cx="5806440" cy="3630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mockups/04_result.png"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417320"/>
            <a:ext cx="5330952" cy="3328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457200" y="5120640"/>
            <a:ext cx="5806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Frontdoor — select a program, then Generate Deck / Brief or Convene Advisory Board.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400800" y="5120640"/>
            <a:ext cx="5330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Result — preview, one-click PPTX/DOCX/PDF export, and the evidence trail for every claim.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57200" y="5669280"/>
            <a:ext cx="11274552" cy="658368"/>
          </a:xfrm>
          <a:prstGeom prst="roundRect">
            <a:avLst>
              <a:gd fmla="val 6944" name="adj"/>
            </a:avLst>
          </a:prstGeom>
          <a:solidFill>
            <a:srgbClr val="EAF1FA"/>
          </a:solidFill>
          <a:ln cap="flat" cmpd="sng" w="12700">
            <a:solidFill>
              <a:srgbClr val="2E75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58368" y="5705856"/>
            <a:ext cx="108722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Fail-closed by design:  </a:t>
            </a:r>
            <a:r>
              <a:rPr lang="en-US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deck is composed to a fixed slide contract (snapshot · comparison · timeline · development plan · assessment · references) and released only if every material claim carries a dated source. Otherwise it is withheld with the specific gap shown.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Output Generation — How a Deck Is Built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From a single click to a governed artifact: retrieve grounded + real-time evidence, compose to contract, check fail-closed, render and deliver.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diagrams/02_generation_flow.png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968" y="1417320"/>
            <a:ext cx="8129016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Simulated Advisory Board — Componentized Across Phases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A panel of grounded expert personas discusses a program over the same knowledge layer. Delivered in stages; the Phase-1 foundation is a demonstration, not an acceptance gate.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diagrams/03_sab_flow.png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73152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7955280" y="1463040"/>
            <a:ext cx="3776472" cy="1143000"/>
          </a:xfrm>
          <a:prstGeom prst="roundRect">
            <a:avLst>
              <a:gd fmla="val 4800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955280" y="1463040"/>
            <a:ext cx="73152" cy="1143000"/>
          </a:xfrm>
          <a:prstGeom prst="rect">
            <a:avLst/>
          </a:prstGeom>
          <a:solidFill>
            <a:srgbClr val="1F9C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138160" y="1572768"/>
            <a:ext cx="3456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C8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9C8A"/>
                </a:solidFill>
                <a:latin typeface="Arial"/>
                <a:ea typeface="Arial"/>
                <a:cs typeface="Arial"/>
                <a:sym typeface="Arial"/>
              </a:rPr>
              <a:t>Phase 1 — Foundation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138160" y="1847088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Persona framework + single-topic panel demonstrated over the knowledge layer, grounded and cited. Seeds the experience; shaped in AZ-facilitated sessions.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955280" y="2706624"/>
            <a:ext cx="3776472" cy="1143000"/>
          </a:xfrm>
          <a:prstGeom prst="roundRect">
            <a:avLst>
              <a:gd fmla="val 4800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955280" y="2706624"/>
            <a:ext cx="73152" cy="1143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138160" y="2816352"/>
            <a:ext cx="3456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Phase 2 — Governed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138160" y="3090672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Entitlement-aware personas, multi-user access, session capture &amp; audit, facilitator controls — usable by the pilot cohort.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955280" y="3950208"/>
            <a:ext cx="3776472" cy="1143000"/>
          </a:xfrm>
          <a:prstGeom prst="roundRect">
            <a:avLst>
              <a:gd fmla="val 4800" name="adj"/>
            </a:avLst>
          </a:prstGeom>
          <a:solidFill>
            <a:srgbClr val="F0F1F4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955280" y="3950208"/>
            <a:ext cx="73152" cy="1143000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138160" y="4059936"/>
            <a:ext cx="3456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Phase 3 — Advanced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138160" y="4334256"/>
            <a:ext cx="3429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Full multi-agent orchestration (QB-Agent): consensus/tension modeling, synthesized recommendation with evidence weight, export to deck/brief.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Three-Phase Delivery Plan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Staged and fixed-scope. Phase 1 is defined; Phases 2–3 are indicative, scoped at each gate.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1316736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None/>
            </a:pPr>
            <a:r>
              <a:rPr i="1"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* Phases 2–3 shown indicative; detailed scope &amp; fixed fee confirmed at each gate following successful prior-phase delivery.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1627632"/>
            <a:ext cx="3550920" cy="749808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03504" y="1737360"/>
            <a:ext cx="3294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1  ·  12 WEEKS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03504" y="1956816"/>
            <a:ext cx="3294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Surface &amp; Generation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2377440"/>
            <a:ext cx="3550920" cy="322783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03504" y="2542032"/>
            <a:ext cx="3276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Discovery, security scans, gap &amp; readiness spec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Containerize; AWS landing zone (MASS); IaC, CI/CD, monitoring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SSO/SAML AuthN, persona RBAC (AuthZ), sessions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Frontdoor UX + report-generator buttons + waiting/failure screens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Deck &amp; brief generators (fail-closed) + PPTX/DOCX/PDF export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Real-time competitor evidence; SAB foundation (demo)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57200" y="5166360"/>
            <a:ext cx="3550920" cy="438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03504" y="5166360"/>
            <a:ext cx="32948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12 wks  ·  $343k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319016" y="1627632"/>
            <a:ext cx="3550920" cy="749808"/>
          </a:xfrm>
          <a:prstGeom prst="rect">
            <a:avLst/>
          </a:prstGeom>
          <a:solidFill>
            <a:srgbClr val="2E75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465320" y="1737360"/>
            <a:ext cx="3294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2  ·  ~10 WEEKS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465320" y="1956816"/>
            <a:ext cx="3294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Governance &amp; Multi-User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319016" y="2377440"/>
            <a:ext cx="3550920" cy="322783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465320" y="2542032"/>
            <a:ext cx="3276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Source→user entitlement + classification-aware retrieval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Audit trail, sessions, token/cost governance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Query-side grounding, guardrails, eval harness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Governance UX + admin console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SharePoint connector (pulled forward) + BIKG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SAB governed &amp; multi-user; pilot go-live ≤50 SMEs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319016" y="5166360"/>
            <a:ext cx="3550920" cy="438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465320" y="5166360"/>
            <a:ext cx="32948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~10 wks ·  indicative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180832" y="1627632"/>
            <a:ext cx="3550920" cy="749808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327136" y="1737360"/>
            <a:ext cx="3294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EF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EEF3"/>
                </a:solidFill>
                <a:latin typeface="Arial"/>
                <a:ea typeface="Arial"/>
                <a:cs typeface="Arial"/>
                <a:sym typeface="Arial"/>
              </a:rPr>
              <a:t>PHASE 3  ·  ~8 WEEKS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327136" y="1956816"/>
            <a:ext cx="3294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Maturity &amp; Scale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180832" y="2377440"/>
            <a:ext cx="3550920" cy="3227832"/>
          </a:xfrm>
          <a:prstGeom prst="rect">
            <a:avLst/>
          </a:prstGeom>
          <a:solidFill>
            <a:srgbClr val="F0F1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327136" y="2542032"/>
            <a:ext cx="3276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Expanded output templates + advanced exporters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Semantic cache + 'top queries'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Feedback-driven analytics dashboards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Additional connectors; pluggable model gateway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SAB advanced — multi-agent synthesis (QB-Agent)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Scale-out toward 500+ concurrent users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180832" y="5166360"/>
            <a:ext cx="3550920" cy="438912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327136" y="5166360"/>
            <a:ext cx="329488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38234"/>
                </a:solidFill>
                <a:latin typeface="Arial"/>
                <a:ea typeface="Arial"/>
                <a:cs typeface="Arial"/>
                <a:sym typeface="Arial"/>
              </a:rPr>
              <a:t>~8 wks  ·  indicative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200" y="5779008"/>
            <a:ext cx="11274552" cy="512064"/>
          </a:xfrm>
          <a:prstGeom prst="roundRect">
            <a:avLst>
              <a:gd fmla="val 8929" name="adj"/>
            </a:avLst>
          </a:prstGeom>
          <a:solidFill>
            <a:srgbClr val="EAF1FA"/>
          </a:solidFill>
          <a:ln cap="flat" cmpd="sng" w="12700">
            <a:solidFill>
              <a:srgbClr val="2E75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58368" y="5779008"/>
            <a:ext cx="10872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Gates:  </a:t>
            </a: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G1 — secure Valtis live on AWS with SSO + working deck/brief generation (end Phase 1)   ·   G2 — governed pilot live to ≤50 SMEs (Phase 2)   ·   G3 — extensible platform, scale to 500+ (Phase 3).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Resourcing &amp; Roles — Phase 1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A lean, senior squad over 12 weeks; front-end and output-generation weighted for the frontdoor &amp; generators.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8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{BA4B76D4-CA1A-4E0B-8EA1-AF1071EAB207}</a:tableStyleId>
              </a:tblPr>
              <a:tblGrid>
                <a:gridCol w="2331725"/>
                <a:gridCol w="1051550"/>
                <a:gridCol w="1051550"/>
                <a:gridCol w="914400"/>
                <a:gridCol w="5925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Arial"/>
                        <a:buNone/>
                      </a:pPr>
                      <a:r>
                        <a:rPr b="1" lang="en-US" sz="9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Arial"/>
                        <a:buNone/>
                      </a:pPr>
                      <a:r>
                        <a:rPr b="1" lang="en-US" sz="9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Arial"/>
                        <a:buNone/>
                      </a:pPr>
                      <a:r>
                        <a:rPr b="1" lang="en-US" sz="9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Allocation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Arial"/>
                        <a:buNone/>
                      </a:pPr>
                      <a:r>
                        <a:rPr b="1" lang="en-US" sz="9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Weeks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Arial"/>
                        <a:buNone/>
                      </a:pPr>
                      <a:r>
                        <a:rPr b="1" lang="en-US" sz="9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responsibilities (scope ref)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Manager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Delivery oversight, governance reviews, RAID &amp; handover (F18)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Solution Architect / Tech Lead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architecture, generator &amp; SAB design, AZ/SHI liaison (F02)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/ MLOps Engineer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Assessment, RAG/grounding, report generator, artifact exports, orchestration (F01,F13–F16)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Integration Engineer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SSO/SAML, RBAC, sessions, service integration (F07–F09)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DevOps Engineer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Containerize, MASS landing zone, IaC/CI-CD, CloudWatch (F03–F06)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Front-End Developer (React)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W3–12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Frontdoor UX — buttons, waiting/failure,  library (F10–F12)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 Designer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Frontdoor journey, deck and report generation &amp; citation flows (F10–F12)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W1–12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tiering, fail-closed checks, eval design (F16,F13)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Engineer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W7–12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SAST/DAST, SSO/AuthZ hardening support (F01,F07,F08)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 Engineer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Offshore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Part-time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W3–12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60"/>
                        <a:buFont typeface="Arial"/>
                        <a:buNone/>
                      </a:pPr>
                      <a:r>
                        <a:rPr lang="en-US" sz="96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across deploy, AuthN/AuthZ, generators, UX (F03–F17)</a:t>
                      </a:r>
                      <a:endParaRPr sz="96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8"/>
          <p:cNvSpPr/>
          <p:nvPr/>
        </p:nvSpPr>
        <p:spPr>
          <a:xfrm>
            <a:off x="457200" y="6053328"/>
            <a:ext cx="11274552" cy="310896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40080" y="605332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Peak concurrency ~6 FTE  ·  </a:t>
            </a:r>
            <a:r>
              <a:rPr lang="en-US" sz="95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blended on/offshore mix; delivery accelerated by internal engineering automation (see internal plan). Fixed fee covers services only.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Appendix — Phase 1 Scope Register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Structured for direct conversion into the SOW's In-Scope / Out-of-Scope tables.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7200" y="1417320"/>
            <a:ext cx="5481828" cy="347472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03504" y="1417320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scope — Phase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57200" y="1764792"/>
            <a:ext cx="5481828" cy="4453128"/>
          </a:xfrm>
          <a:prstGeom prst="rect">
            <a:avLst/>
          </a:prstGeom>
          <a:solidFill>
            <a:srgbClr val="F0F1F4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03504" y="1892808"/>
            <a:ext cx="518922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F01  Current-state assessment — code/arch review, SAST/SCA/secrets/container/DAST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F02  Gap analysis + production-readiness spec + target architecture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F03  Containerization of Valtis (engine + advisory app + generators)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F04  AWS landing zone via MASS — ECR, Fargate, Secrets Mgr, S3, RLS Postgres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F05  Terraform IaC + CI/CD pipeline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F06  CloudWatch monitoring, logging &amp; alerting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F07  SSO/SAML authentication (AuthN) with AZ IdP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F08  Authorization (AuthZ) — persona RBAC + baseline user management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F09  Session handling for authenticated multi-user access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F10  Frontdoor UX — sign-on, program select, generate buttons, downloads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F11  Honest waiting &amp; failure screens; citations &amp; feedback controls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F12  Artifact library (list, download, re-run)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F13  Output generators — 5-slide program deck + competitive brief to fixed contract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F14  Fail-closed check engine — named pass/fail tests; withhold on unsourced claim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F15  Exporters — PPTX / DOCX / PDF with workflow-contract metadata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F16  Real-time evidence service — CT.gov, PubMed, press/IR, web (dated, source-linked)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F17  SAB foundation — grounded persona panel demonstrated over the KL (demo)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F18  Runbook, admin/user guides, architecture document, handover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249924" y="1417320"/>
            <a:ext cx="5481828" cy="347472"/>
          </a:xfrm>
          <a:prstGeom prst="rect">
            <a:avLst/>
          </a:prstGeom>
          <a:solidFill>
            <a:srgbClr val="6B7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396228" y="1417320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 of scope for Phase 1  (Phase 2 / 3 / separate)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249924" y="1764792"/>
            <a:ext cx="5481828" cy="4453128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396228" y="1892808"/>
            <a:ext cx="518922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O01  Source→user entitlement propagation &amp; classification-aware retrieval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O02  Conversation audit trail &amp; advanced session/memory governance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O03  Token/cost tracking &amp; model-gateway cost governance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O04  Guardrails &amp; eval/red-team harness (beyond fail-closed checks)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O05  Governance-aware admin console &amp; usage dashboards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O06  SharePoint &amp; BIKG connectors — Phase 2 (pulled forward from P3)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O07  SAB governed &amp; multi-user (entitlement, session capture, facilitation) — Phase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O08  CISO full hardening &amp; pen-test remediation — Phase 2 (baseline scans in P1)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O09  Expanded output templates &amp; advanced exporters — Phase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O10  Semantic cache, analytics, pluggable gateway — Phase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O11  SAB advanced — multi-agent synthesis &amp; consensus (QB-Agent) — Phase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O12  Source-data licensing clearance (congress transcripts) — AZ-led, separate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Clr>
                <a:srgbClr val="6B748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6B7480"/>
                </a:solidFill>
                <a:latin typeface="Arial"/>
                <a:ea typeface="Arial"/>
                <a:cs typeface="Arial"/>
                <a:sym typeface="Arial"/>
              </a:rPr>
              <a:t>O13  Ongoing maintenance, support &amp; SLA after handover — separate SOW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Appendix — Key Assumptions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Grouped to map onto the SOW. Any invalidated assumption is raised immediately and handled via change request.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1417320"/>
            <a:ext cx="5481828" cy="347472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03504" y="1417320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57200" y="1764792"/>
            <a:ext cx="5481828" cy="1938528"/>
          </a:xfrm>
          <a:prstGeom prst="rect">
            <a:avLst/>
          </a:prstGeom>
          <a:solidFill>
            <a:srgbClr val="F0F1F4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03504" y="1892808"/>
            <a:ext cx="51892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AWS landing zone via MASS — ECR, Fargate, Secrets Mgr, S3, networking, egress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Migrated Postgres knowledge layer available as the single write target (RLS)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Non-GxP; no PHI / patient-level data; public + licensed sources only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Single AWS region for Phase 1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249924" y="1417320"/>
            <a:ext cx="5481828" cy="347472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396228" y="1417320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Data, Model &amp; Content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249924" y="1764792"/>
            <a:ext cx="5481828" cy="1938528"/>
          </a:xfrm>
          <a:prstGeom prst="rect">
            <a:avLst/>
          </a:prstGeom>
          <a:solidFill>
            <a:srgbClr val="F0F1F4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396228" y="1892808"/>
            <a:ext cx="51892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Valtis code + ~400-test suite provided at kickoff; generators/prompts provided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Approved LLM via AZ AI-Gateway + token budget by week 2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Prompts, rubrics &amp; fail-closed gates stay under AZ change authority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Frozen pilot corpus confirmed at Gate 1; congress licensing cleared by AZ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3904488"/>
            <a:ext cx="5481828" cy="347472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03504" y="3904488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Access, Security &amp;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7200" y="4251960"/>
            <a:ext cx="5481828" cy="1938528"/>
          </a:xfrm>
          <a:prstGeom prst="rect">
            <a:avLst/>
          </a:prstGeom>
          <a:solidFill>
            <a:srgbClr val="F0F1F4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03504" y="4379976"/>
            <a:ext cx="51892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Scoped, NDA-covered access by kickoff (gates the 12-week clock)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SSO/SAML IdP endpoints by week 3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External-source egress (CT.gov/PubMed/press/web) allow-listed; rate limits acceptable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Baseline scans + SSO in P1; full CISO hardening &amp; pen-test in P2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249924" y="3904488"/>
            <a:ext cx="5481828" cy="347472"/>
          </a:xfrm>
          <a:prstGeom prst="rect">
            <a:avLst/>
          </a:prstGeom>
          <a:solidFill>
            <a:srgbClr val="223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396228" y="3904488"/>
            <a:ext cx="52075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Organizational &amp; Commercial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249924" y="4251960"/>
            <a:ext cx="5481828" cy="1938528"/>
          </a:xfrm>
          <a:prstGeom prst="rect">
            <a:avLst/>
          </a:prstGeom>
          <a:solidFill>
            <a:srgbClr val="F0F1F4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396228" y="4379976"/>
            <a:ext cx="51892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MSA/confidentiality via SHI procurement (Kieran, UK) before start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One committed output confirmed; pre-agreed fallback (brief) fixed at Gate 1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AZ sponsor + SMEs in weekly review; feedback within 48h of demos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939"/>
              <a:buFont typeface="Arial"/>
              <a:buChar char="•"/>
            </a:pPr>
            <a:r>
              <a:rPr lang="en-US" sz="94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Fixed scope, gated; changes via change request. Price = services only</a:t>
            </a:r>
            <a:endParaRPr sz="9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/>
          <p:nvPr/>
        </p:nvSpPr>
        <p:spPr>
          <a:xfrm>
            <a:off x="457200" y="310896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74C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22374C"/>
                </a:solidFill>
                <a:latin typeface="Arial"/>
                <a:ea typeface="Arial"/>
                <a:cs typeface="Arial"/>
                <a:sym typeface="Arial"/>
              </a:rPr>
              <a:t>Appendix — Dependencies &amp; Customer Responsibilities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7200" y="914400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E75B7"/>
                </a:solidFill>
                <a:latin typeface="Arial"/>
                <a:ea typeface="Arial"/>
                <a:cs typeface="Arial"/>
                <a:sym typeface="Arial"/>
              </a:rPr>
              <a:t>Owners and dates confirmed at SOW review; DEP1–DEP3 gate the start of the Phase 1 clock.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11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{BA4B76D4-CA1A-4E0B-8EA1-AF1071EAB207}</a:tableStyleId>
              </a:tblPr>
              <a:tblGrid>
                <a:gridCol w="777250"/>
                <a:gridCol w="4892050"/>
                <a:gridCol w="1737350"/>
                <a:gridCol w="1417325"/>
                <a:gridCol w="2450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Dependency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by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 if delayed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74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DEP1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Scoped, NDA-covered access to AZ's AWS landing zone (via MASS)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IT / MASS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Kickoff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all deployment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DEP2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Migrated Postgres knowledge layer + frozen pilot corpus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Data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2 / Gate 1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generation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DEP3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MSA / confidentiality executed via SHI procurement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 (Kieran) + AZ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SOW review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start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DEP4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SSO/SAML IdP endpoints &amp; configuration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IdP team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3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AuthN / AuthZ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DEP5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Approved LLM via AZ AI-Gateway + token budget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AI Platform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2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generation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DEP6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External-source egress allow-listing (CT.gov/PubMed/press/web)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Security / Cloud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4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real-time evidence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DEP7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Prompts, rubrics &amp; fail-closed gates (content authority)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(Nelson)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Ongoing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Blocks output quality sign-off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74C"/>
                        </a:buClr>
                        <a:buSzPts val="970"/>
                        <a:buFont typeface="Arial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2374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DEP8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sponsor &amp; SME availability; feedback within 48h of demos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 (Ross/Nelson)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Weekly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70"/>
                        <a:buFont typeface="Arial"/>
                        <a:buNone/>
                      </a:pPr>
                      <a:r>
                        <a:rPr lang="en-US" sz="97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Risks schedule slip</a:t>
                      </a:r>
                      <a:endParaRPr sz="97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1"/>
          <p:cNvSpPr/>
          <p:nvPr/>
        </p:nvSpPr>
        <p:spPr>
          <a:xfrm>
            <a:off x="7434072" y="654710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SHI</a:t>
            </a:r>
            <a:r>
              <a:rPr lang="en-US" sz="850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 | Confidential &amp; Proprietary Information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2026-07-21T19:46:34Z</dcterms:created>
  <dc:creator>Ganesh Tyagali, NStarX × SHI</dc:creator>
</cp:coreProperties>
</file>