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5486400" cy="5852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Revolutionizing Road Infrastructure with AI</a:t>
            </a:r>
          </a:p>
          <a:p>
            <a:pPr algn="l">
              <a:defRPr sz="1800">
                <a:solidFill>
                  <a:srgbClr val="CBD5E1"/>
                </a:solidFill>
                <a:latin typeface="Calibri"/>
              </a:defRPr>
            </a:pPr>
            <a:r>
              <a:t>Transforming Safety, Efficiency, and Sustainability</a:t>
            </a:r>
          </a:p>
        </p:txBody>
      </p:sp>
      <p:pic>
        <p:nvPicPr>
          <p:cNvPr id="4" name="Slide Image" descr="22e6e662616f55c0ff81a9457c5fcdaf8e573e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5" name="Hero Credit"/>
          <p:cNvSpPr txBox="1"/>
          <p:nvPr/>
        </p:nvSpPr>
        <p:spPr>
          <a:xfrm>
            <a:off x="6583680" y="6446520"/>
            <a:ext cx="5425135" cy="3200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Calibri"/>
              </a:defRPr>
            </a:pPr>
            <a:r>
              <a:t>Image: constructionworld.in</a:t>
            </a:r>
          </a:p>
        </p:txBody>
      </p:sp>
      <p:sp>
        <p:nvSpPr>
          <p:cNvPr id="6" name="Accent Bar"/>
          <p:cNvSpPr/>
          <p:nvPr/>
        </p:nvSpPr>
        <p:spPr>
          <a:xfrm>
            <a:off x="548640" y="1691640"/>
            <a:ext cx="1097280" cy="73152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11094415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F2A44"/>
                </a:solidFill>
                <a:latin typeface="Calibri"/>
              </a:defRPr>
            </a:pPr>
            <a:r>
              <a:t>Introduction to AI in Road Infrastructure</a:t>
            </a:r>
          </a:p>
          <a:p>
            <a:pPr algn="l">
              <a:defRPr sz="1800">
                <a:solidFill>
                  <a:srgbClr val="475569"/>
                </a:solidFill>
                <a:latin typeface="Calibri"/>
              </a:defRPr>
            </a:pPr>
            <a:r>
              <a:t>Overview of the Current State and Future Potential</a:t>
            </a:r>
          </a:p>
        </p:txBody>
      </p:sp>
      <p:sp>
        <p:nvSpPr>
          <p:cNvPr id="3" name="Body Paragraph"/>
          <p:cNvSpPr txBox="1"/>
          <p:nvPr/>
        </p:nvSpPr>
        <p:spPr>
          <a:xfrm>
            <a:off x="548640" y="1645920"/>
            <a:ext cx="5410047" cy="1354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Artificial intelligence (AI) is transforming road infrastructure management with innovative tools improving safety, efficiency, and sustainability.</a:t>
            </a:r>
          </a:p>
        </p:txBody>
      </p:sp>
      <p:sp>
        <p:nvSpPr>
          <p:cNvPr id="4" name="Bullet List"/>
          <p:cNvSpPr txBox="1"/>
          <p:nvPr/>
        </p:nvSpPr>
        <p:spPr>
          <a:xfrm>
            <a:off x="548640" y="3274568"/>
            <a:ext cx="5410047" cy="2989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 b="1">
                <a:solidFill>
                  <a:srgbClr val="0F2A44"/>
                </a:solidFill>
                <a:latin typeface="Calibri"/>
              </a:rPr>
              <a:t>• Solid-state cells: </a:t>
            </a:r>
            <a:r>
              <a:rPr b="0">
                <a:solidFill>
                  <a:srgbClr val="1F2937"/>
                </a:solidFill>
                <a:latin typeface="Calibri"/>
              </a:rPr>
              <a:t>higher energy density with lower fire risk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 b="1">
                <a:solidFill>
                  <a:srgbClr val="0F2A44"/>
                </a:solidFill>
                <a:latin typeface="Calibri"/>
              </a:rPr>
              <a:t>• Predictive maintenance: </a:t>
            </a:r>
            <a:r>
              <a:rPr b="0">
                <a:solidFill>
                  <a:srgbClr val="1F2937"/>
                </a:solidFill>
                <a:latin typeface="Calibri"/>
              </a:rPr>
              <a:t>reducing downtime and costs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 b="1">
                <a:solidFill>
                  <a:srgbClr val="0F2A44"/>
                </a:solidFill>
                <a:latin typeface="Calibri"/>
              </a:rPr>
              <a:t>• Smart traffic management: </a:t>
            </a:r>
            <a:r>
              <a:rPr b="0">
                <a:solidFill>
                  <a:srgbClr val="1F2937"/>
                </a:solidFill>
                <a:latin typeface="Calibri"/>
              </a:rPr>
              <a:t>optimizing flow and reducing congestion</a:t>
            </a:r>
          </a:p>
        </p:txBody>
      </p:sp>
      <p:pic>
        <p:nvPicPr>
          <p:cNvPr id="5" name="Slide Image" descr="9203854b682bdc79a47de5184a4607380f568a0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007" y="1645920"/>
            <a:ext cx="5410047" cy="4325112"/>
          </a:xfrm>
          <a:prstGeom prst="rect">
            <a:avLst/>
          </a:prstGeom>
        </p:spPr>
      </p:pic>
      <p:sp>
        <p:nvSpPr>
          <p:cNvPr id="6" name="Footer"/>
          <p:cNvSpPr txBox="1"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2 / 11</a:t>
            </a:r>
          </a:p>
        </p:txBody>
      </p:sp>
      <p:sp>
        <p:nvSpPr>
          <p:cNvPr id="7" name="Accent Bar"/>
          <p:cNvSpPr/>
          <p:nvPr/>
        </p:nvSpPr>
        <p:spPr>
          <a:xfrm>
            <a:off x="329184" y="685800"/>
            <a:ext cx="64008" cy="685800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mage Caption"/>
          <p:cNvSpPr txBox="1"/>
          <p:nvPr/>
        </p:nvSpPr>
        <p:spPr>
          <a:xfrm>
            <a:off x="6233007" y="5971032"/>
            <a:ext cx="5410047" cy="29260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Image: kpmg.com</a:t>
            </a:r>
          </a:p>
        </p:txBody>
      </p:sp>
      <p:sp>
        <p:nvSpPr>
          <p:cNvPr id="9" name="Footer Title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none" anchor="ctr" l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Revolutionizing Road Infrastructure with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11094415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F2A44"/>
                </a:solidFill>
                <a:latin typeface="Calibri"/>
              </a:defRPr>
            </a:pPr>
            <a:r>
              <a:t>Design and Planning Optimization</a:t>
            </a:r>
          </a:p>
          <a:p>
            <a:pPr algn="l">
              <a:defRPr sz="1800">
                <a:solidFill>
                  <a:srgbClr val="475569"/>
                </a:solidFill>
                <a:latin typeface="Calibri"/>
              </a:defRPr>
            </a:pPr>
            <a:r>
              <a:t>How AI is Revolutionizing Road Design</a:t>
            </a:r>
          </a:p>
        </p:txBody>
      </p:sp>
      <p:sp>
        <p:nvSpPr>
          <p:cNvPr id="3" name="Body Paragraph"/>
          <p:cNvSpPr txBox="1"/>
          <p:nvPr/>
        </p:nvSpPr>
        <p:spPr>
          <a:xfrm>
            <a:off x="548640" y="1645920"/>
            <a:ext cx="5410047" cy="1354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AI-powered tools are driving material efficiency, robotic execution, risk-aware scheduling, and self-sustaining in road infrastructure development.</a:t>
            </a:r>
          </a:p>
        </p:txBody>
      </p:sp>
      <p:sp>
        <p:nvSpPr>
          <p:cNvPr id="4" name="Bullet List"/>
          <p:cNvSpPr txBox="1"/>
          <p:nvPr/>
        </p:nvSpPr>
        <p:spPr>
          <a:xfrm>
            <a:off x="548640" y="3274568"/>
            <a:ext cx="5410047" cy="2989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 b="1">
                <a:solidFill>
                  <a:srgbClr val="0F2A44"/>
                </a:solidFill>
                <a:latin typeface="Calibri"/>
              </a:rPr>
              <a:t>• Generative design: </a:t>
            </a:r>
            <a:r>
              <a:rPr b="0">
                <a:solidFill>
                  <a:srgbClr val="1F2937"/>
                </a:solidFill>
                <a:latin typeface="Calibri"/>
              </a:rPr>
              <a:t>creating multiple design options quickly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 b="1">
                <a:solidFill>
                  <a:srgbClr val="0F2A44"/>
                </a:solidFill>
                <a:latin typeface="Calibri"/>
              </a:rPr>
              <a:t>• Building Information Modeling (BIM): </a:t>
            </a:r>
            <a:r>
              <a:rPr b="0">
                <a:solidFill>
                  <a:srgbClr val="1F2937"/>
                </a:solidFill>
                <a:latin typeface="Calibri"/>
              </a:rPr>
              <a:t>improving construction planning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 b="1">
                <a:solidFill>
                  <a:srgbClr val="0F2A44"/>
                </a:solidFill>
                <a:latin typeface="Calibri"/>
              </a:rPr>
              <a:t>• Computer vision: </a:t>
            </a:r>
            <a:r>
              <a:rPr b="0">
                <a:solidFill>
                  <a:srgbClr val="1F2937"/>
                </a:solidFill>
                <a:latin typeface="Calibri"/>
              </a:rPr>
              <a:t>analyzing data from images and videos</a:t>
            </a:r>
          </a:p>
        </p:txBody>
      </p:sp>
      <p:pic>
        <p:nvPicPr>
          <p:cNvPr id="5" name="Slide Image" descr="db5232ed53a2eb95a489f70ecdc5454c2fa44e8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007" y="1645920"/>
            <a:ext cx="5410047" cy="4325112"/>
          </a:xfrm>
          <a:prstGeom prst="rect">
            <a:avLst/>
          </a:prstGeom>
        </p:spPr>
      </p:pic>
      <p:sp>
        <p:nvSpPr>
          <p:cNvPr id="6" name="Footer"/>
          <p:cNvSpPr txBox="1"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3 / 11</a:t>
            </a:r>
          </a:p>
        </p:txBody>
      </p:sp>
      <p:sp>
        <p:nvSpPr>
          <p:cNvPr id="7" name="Accent Bar"/>
          <p:cNvSpPr/>
          <p:nvPr/>
        </p:nvSpPr>
        <p:spPr>
          <a:xfrm>
            <a:off x="329184" y="685800"/>
            <a:ext cx="64008" cy="685800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mage Caption"/>
          <p:cNvSpPr txBox="1"/>
          <p:nvPr/>
        </p:nvSpPr>
        <p:spPr>
          <a:xfrm>
            <a:off x="6233007" y="5971032"/>
            <a:ext cx="5410047" cy="29260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Image: aps.autodesk.com</a:t>
            </a:r>
          </a:p>
        </p:txBody>
      </p:sp>
      <p:sp>
        <p:nvSpPr>
          <p:cNvPr id="9" name="Footer Title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none" anchor="ctr" l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Revolutionizing Road Infrastructure with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11094415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F2A44"/>
                </a:solidFill>
                <a:latin typeface="Calibri"/>
              </a:defRPr>
            </a:pPr>
            <a:r>
              <a:t>Construction Process Improvement</a:t>
            </a:r>
          </a:p>
          <a:p>
            <a:pPr algn="l">
              <a:defRPr sz="1800">
                <a:solidFill>
                  <a:srgbClr val="475569"/>
                </a:solidFill>
                <a:latin typeface="Calibri"/>
              </a:defRPr>
            </a:pPr>
            <a:r>
              <a:t>How AI is Enhancing Road Construction Efficiency</a:t>
            </a:r>
          </a:p>
        </p:txBody>
      </p:sp>
      <p:sp>
        <p:nvSpPr>
          <p:cNvPr id="3" name="Body Paragraph"/>
          <p:cNvSpPr txBox="1"/>
          <p:nvPr/>
        </p:nvSpPr>
        <p:spPr>
          <a:xfrm>
            <a:off x="548640" y="1645920"/>
            <a:ext cx="11094415" cy="8422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AI-powered solutions are enabling more efficient, cost-effective, and sustainable construction processes.</a:t>
            </a:r>
          </a:p>
        </p:txBody>
      </p:sp>
      <p:sp>
        <p:nvSpPr>
          <p:cNvPr id="4" name="Process Step"/>
          <p:cNvSpPr/>
          <p:nvPr/>
        </p:nvSpPr>
        <p:spPr>
          <a:xfrm>
            <a:off x="548640" y="3427222"/>
            <a:ext cx="3625748" cy="2171700"/>
          </a:xfrm>
          <a:prstGeom prst="roundRect">
            <a:avLst/>
          </a:prstGeom>
          <a:solidFill>
            <a:srgbClr val="0B7A7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Robotic execution</a:t>
            </a:r>
          </a:p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improving accuracy and reducing labor costs</a:t>
            </a:r>
          </a:p>
        </p:txBody>
      </p:sp>
      <p:sp>
        <p:nvSpPr>
          <p:cNvPr id="5" name="Process Step"/>
          <p:cNvSpPr/>
          <p:nvPr/>
        </p:nvSpPr>
        <p:spPr>
          <a:xfrm>
            <a:off x="4282973" y="3427222"/>
            <a:ext cx="3625748" cy="2171700"/>
          </a:xfrm>
          <a:prstGeom prst="roundRect">
            <a:avLst/>
          </a:prstGeom>
          <a:solidFill>
            <a:srgbClr val="0B7A7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Risk-aware scheduling</a:t>
            </a:r>
          </a:p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optimizing project timelines and budgets</a:t>
            </a:r>
          </a:p>
        </p:txBody>
      </p:sp>
      <p:sp>
        <p:nvSpPr>
          <p:cNvPr id="6" name="Process Step"/>
          <p:cNvSpPr/>
          <p:nvPr/>
        </p:nvSpPr>
        <p:spPr>
          <a:xfrm>
            <a:off x="8017306" y="3427222"/>
            <a:ext cx="3625748" cy="2171700"/>
          </a:xfrm>
          <a:prstGeom prst="roundRect">
            <a:avLst/>
          </a:prstGeom>
          <a:solidFill>
            <a:srgbClr val="0B7A7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Material efficiency</a:t>
            </a:r>
          </a:p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minimizing waste and optimizing resource usage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74388" y="4513072"/>
            <a:ext cx="1085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908721" y="4513072"/>
            <a:ext cx="1085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ooter"/>
          <p:cNvSpPr txBox="1"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4 / 11</a:t>
            </a:r>
          </a:p>
        </p:txBody>
      </p:sp>
      <p:sp>
        <p:nvSpPr>
          <p:cNvPr id="10" name="Accent Bar"/>
          <p:cNvSpPr/>
          <p:nvPr/>
        </p:nvSpPr>
        <p:spPr>
          <a:xfrm>
            <a:off x="329184" y="685800"/>
            <a:ext cx="64008" cy="685800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ooter Title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none" anchor="ctr" l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Revolutionizing Road Infrastructure with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11094415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F2A44"/>
                </a:solidFill>
                <a:latin typeface="Calibri"/>
              </a:defRPr>
            </a:pPr>
            <a:r>
              <a:t>Maintenance and Asset Management</a:t>
            </a:r>
          </a:p>
          <a:p>
            <a:pPr algn="l">
              <a:defRPr sz="1800">
                <a:solidFill>
                  <a:srgbClr val="475569"/>
                </a:solidFill>
                <a:latin typeface="Calibri"/>
              </a:defRPr>
            </a:pPr>
            <a:r>
              <a:t>How AI is Improving Road Maintenance Efficiency</a:t>
            </a:r>
          </a:p>
        </p:txBody>
      </p:sp>
      <p:sp>
        <p:nvSpPr>
          <p:cNvPr id="3" name="Body Paragraph"/>
          <p:cNvSpPr txBox="1"/>
          <p:nvPr/>
        </p:nvSpPr>
        <p:spPr>
          <a:xfrm>
            <a:off x="548640" y="1645920"/>
            <a:ext cx="5410047" cy="10982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AI-powered tools are optimizing maintenance schedules, reducing downtime, and improving overall asset performance.</a:t>
            </a:r>
          </a:p>
        </p:txBody>
      </p:sp>
      <p:sp>
        <p:nvSpPr>
          <p:cNvPr id="4" name="Bullet List"/>
          <p:cNvSpPr txBox="1"/>
          <p:nvPr/>
        </p:nvSpPr>
        <p:spPr>
          <a:xfrm>
            <a:off x="548640" y="3018536"/>
            <a:ext cx="5410047" cy="32451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 b="1">
                <a:solidFill>
                  <a:srgbClr val="0F2A44"/>
                </a:solidFill>
                <a:latin typeface="Calibri"/>
              </a:rPr>
              <a:t>• Predictive maintenance: </a:t>
            </a:r>
            <a:r>
              <a:rPr b="0">
                <a:solidFill>
                  <a:srgbClr val="1F2937"/>
                </a:solidFill>
                <a:latin typeface="Calibri"/>
              </a:rPr>
              <a:t>identifying potential issues before they occur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 b="1">
                <a:solidFill>
                  <a:srgbClr val="0F2A44"/>
                </a:solidFill>
                <a:latin typeface="Calibri"/>
              </a:rPr>
              <a:t>• Condition-based maintenance: </a:t>
            </a:r>
            <a:r>
              <a:rPr b="0">
                <a:solidFill>
                  <a:srgbClr val="1F2937"/>
                </a:solidFill>
                <a:latin typeface="Calibri"/>
              </a:rPr>
              <a:t>scheduling maintenance based on actual conditions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 b="1">
                <a:solidFill>
                  <a:srgbClr val="0F2A44"/>
                </a:solidFill>
                <a:latin typeface="Calibri"/>
              </a:rPr>
              <a:t>• Data-driven decision-making: </a:t>
            </a:r>
            <a:r>
              <a:rPr b="0">
                <a:solidFill>
                  <a:srgbClr val="1F2937"/>
                </a:solidFill>
                <a:latin typeface="Calibri"/>
              </a:rPr>
              <a:t>using analytics to inform maintenance strategies</a:t>
            </a:r>
          </a:p>
        </p:txBody>
      </p:sp>
      <p:pic>
        <p:nvPicPr>
          <p:cNvPr id="5" name="Slide Image" descr="cfd556519790f252154b6646e9129d5a7bfed91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007" y="1645920"/>
            <a:ext cx="5410047" cy="4325112"/>
          </a:xfrm>
          <a:prstGeom prst="rect">
            <a:avLst/>
          </a:prstGeom>
        </p:spPr>
      </p:pic>
      <p:sp>
        <p:nvSpPr>
          <p:cNvPr id="6" name="Footer"/>
          <p:cNvSpPr txBox="1"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5 / 11</a:t>
            </a:r>
          </a:p>
        </p:txBody>
      </p:sp>
      <p:sp>
        <p:nvSpPr>
          <p:cNvPr id="7" name="Accent Bar"/>
          <p:cNvSpPr/>
          <p:nvPr/>
        </p:nvSpPr>
        <p:spPr>
          <a:xfrm>
            <a:off x="329184" y="685800"/>
            <a:ext cx="64008" cy="685800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mage Caption"/>
          <p:cNvSpPr txBox="1"/>
          <p:nvPr/>
        </p:nvSpPr>
        <p:spPr>
          <a:xfrm>
            <a:off x="6233007" y="5971032"/>
            <a:ext cx="5410047" cy="29260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Image: oxmaint.com</a:t>
            </a:r>
          </a:p>
        </p:txBody>
      </p:sp>
      <p:sp>
        <p:nvSpPr>
          <p:cNvPr id="9" name="Footer Title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none" anchor="ctr" l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Revolutionizing Road Infrastructure with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11094415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F2A44"/>
                </a:solidFill>
                <a:latin typeface="Calibri"/>
              </a:defRPr>
            </a:pPr>
            <a:r>
              <a:t>Safety and Security Enhancement</a:t>
            </a:r>
          </a:p>
          <a:p>
            <a:pPr algn="l">
              <a:defRPr sz="1800">
                <a:solidFill>
                  <a:srgbClr val="475569"/>
                </a:solidFill>
                <a:latin typeface="Calibri"/>
              </a:defRPr>
            </a:pPr>
            <a:r>
              <a:t>How AI is Improving Road Safety</a:t>
            </a:r>
          </a:p>
        </p:txBody>
      </p:sp>
      <p:sp>
        <p:nvSpPr>
          <p:cNvPr id="3" name="Body Paragraph"/>
          <p:cNvSpPr txBox="1"/>
          <p:nvPr/>
        </p:nvSpPr>
        <p:spPr>
          <a:xfrm>
            <a:off x="548640" y="1645920"/>
            <a:ext cx="5410047" cy="10982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AI-powered tools are improving safety, reducing accidents, and enhancing overall security.</a:t>
            </a:r>
          </a:p>
        </p:txBody>
      </p:sp>
      <p:sp>
        <p:nvSpPr>
          <p:cNvPr id="4" name="Bullet List"/>
          <p:cNvSpPr txBox="1"/>
          <p:nvPr/>
        </p:nvSpPr>
        <p:spPr>
          <a:xfrm>
            <a:off x="548640" y="3018536"/>
            <a:ext cx="5410047" cy="32451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 b="1">
                <a:solidFill>
                  <a:srgbClr val="0F2A44"/>
                </a:solidFill>
                <a:latin typeface="Calibri"/>
              </a:rPr>
              <a:t>• Intelligent traffic management: </a:t>
            </a:r>
            <a:r>
              <a:rPr b="0">
                <a:solidFill>
                  <a:srgbClr val="1F2937"/>
                </a:solidFill>
                <a:latin typeface="Calibri"/>
              </a:rPr>
              <a:t>optimizing flow and reducing congestion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 b="1">
                <a:solidFill>
                  <a:srgbClr val="0F2A44"/>
                </a:solidFill>
                <a:latin typeface="Calibri"/>
              </a:rPr>
              <a:t>• Predictive analytics: </a:t>
            </a:r>
            <a:r>
              <a:rPr b="0">
                <a:solidFill>
                  <a:srgbClr val="1F2937"/>
                </a:solidFill>
                <a:latin typeface="Calibri"/>
              </a:rPr>
              <a:t>identifying potential safety risks before they occur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 b="1">
                <a:solidFill>
                  <a:srgbClr val="0F2A44"/>
                </a:solidFill>
                <a:latin typeface="Calibri"/>
              </a:rPr>
              <a:t>• Real-time monitoring: </a:t>
            </a:r>
            <a:r>
              <a:rPr b="0">
                <a:solidFill>
                  <a:srgbClr val="1F2937"/>
                </a:solidFill>
                <a:latin typeface="Calibri"/>
              </a:rPr>
              <a:t>providing situational awareness and incident response</a:t>
            </a:r>
          </a:p>
        </p:txBody>
      </p:sp>
      <p:pic>
        <p:nvPicPr>
          <p:cNvPr id="5" name="Slide Image" descr="93c7886da029da3cf684fb658bc9cd91a53a28c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007" y="1645920"/>
            <a:ext cx="5410047" cy="4325112"/>
          </a:xfrm>
          <a:prstGeom prst="rect">
            <a:avLst/>
          </a:prstGeom>
        </p:spPr>
      </p:pic>
      <p:sp>
        <p:nvSpPr>
          <p:cNvPr id="6" name="Footer"/>
          <p:cNvSpPr txBox="1"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6 / 11</a:t>
            </a:r>
          </a:p>
        </p:txBody>
      </p:sp>
      <p:sp>
        <p:nvSpPr>
          <p:cNvPr id="7" name="Accent Bar"/>
          <p:cNvSpPr/>
          <p:nvPr/>
        </p:nvSpPr>
        <p:spPr>
          <a:xfrm>
            <a:off x="329184" y="685800"/>
            <a:ext cx="64008" cy="685800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mage Caption"/>
          <p:cNvSpPr txBox="1"/>
          <p:nvPr/>
        </p:nvSpPr>
        <p:spPr>
          <a:xfrm>
            <a:off x="6233007" y="5971032"/>
            <a:ext cx="5410047" cy="29260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Image: carsifu.my</a:t>
            </a:r>
          </a:p>
        </p:txBody>
      </p:sp>
      <p:sp>
        <p:nvSpPr>
          <p:cNvPr id="9" name="Footer Title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none" anchor="ctr" l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Revolutionizing Road Infrastructure with 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11094415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F2A44"/>
                </a:solidFill>
                <a:latin typeface="Calibri"/>
              </a:defRPr>
            </a:pPr>
            <a:r>
              <a:t>Economic Benefits of AI in Road Infrastructure</a:t>
            </a:r>
          </a:p>
          <a:p>
            <a:pPr algn="l">
              <a:defRPr sz="1800">
                <a:solidFill>
                  <a:srgbClr val="475569"/>
                </a:solidFill>
                <a:latin typeface="Calibri"/>
              </a:defRPr>
            </a:pPr>
            <a:r>
              <a:t>Reducing Costs and Increasing Efficiency</a:t>
            </a:r>
          </a:p>
        </p:txBody>
      </p:sp>
      <p:sp>
        <p:nvSpPr>
          <p:cNvPr id="3" name="Body Paragraph"/>
          <p:cNvSpPr txBox="1"/>
          <p:nvPr/>
        </p:nvSpPr>
        <p:spPr>
          <a:xfrm>
            <a:off x="548640" y="1645920"/>
            <a:ext cx="11094415" cy="8422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The full realization of an AI-enabled infrastructure vision has the potential to reduce logistics costs from 14% of GDP to below 8% by 2047.</a:t>
            </a:r>
          </a:p>
        </p:txBody>
      </p:sp>
      <p:graphicFrame>
        <p:nvGraphicFramePr>
          <p:cNvPr id="4" name="Content Table"/>
          <p:cNvGraphicFramePr>
            <a:graphicFrameLocks noGrp="1"/>
          </p:cNvGraphicFramePr>
          <p:nvPr/>
        </p:nvGraphicFramePr>
        <p:xfrm>
          <a:off x="548640" y="2762504"/>
          <a:ext cx="5410047" cy="768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6923"/>
                <a:gridCol w="1320061"/>
                <a:gridCol w="1493063"/>
              </a:tblGrid>
              <a:tr h="38404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Current Value</a:t>
                      </a:r>
                    </a:p>
                  </a:txBody>
                  <a:tcPr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Projected Value</a:t>
                      </a:r>
                    </a:p>
                  </a:txBody>
                  <a:tcPr>
                    <a:solidFill>
                      <a:srgbClr val="0F2A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Logistics Costs as % of GDP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.08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Bullet List"/>
          <p:cNvSpPr txBox="1"/>
          <p:nvPr/>
        </p:nvSpPr>
        <p:spPr>
          <a:xfrm>
            <a:off x="6233007" y="2762504"/>
            <a:ext cx="5410047" cy="3501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 b="1">
                <a:solidFill>
                  <a:srgbClr val="0F2A44"/>
                </a:solidFill>
                <a:latin typeface="Calibri"/>
              </a:rPr>
              <a:t>• Reduced maintenance costs: </a:t>
            </a:r>
            <a:r>
              <a:rPr b="0">
                <a:solidFill>
                  <a:srgbClr val="1F2937"/>
                </a:solidFill>
                <a:latin typeface="Calibri"/>
              </a:rPr>
              <a:t>extending asset lifespan and minimizing repairs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 b="1">
                <a:solidFill>
                  <a:srgbClr val="0F2A44"/>
                </a:solidFill>
                <a:latin typeface="Calibri"/>
              </a:rPr>
              <a:t>• Improved traffic flow: </a:t>
            </a:r>
            <a:r>
              <a:rPr b="0">
                <a:solidFill>
                  <a:srgbClr val="1F2937"/>
                </a:solidFill>
                <a:latin typeface="Calibri"/>
              </a:rPr>
              <a:t>reducing congestion and increasing productivity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 b="1">
                <a:solidFill>
                  <a:srgbClr val="0F2A44"/>
                </a:solidFill>
                <a:latin typeface="Calibri"/>
              </a:rPr>
              <a:t>• Increased safety: </a:t>
            </a:r>
            <a:r>
              <a:rPr b="0">
                <a:solidFill>
                  <a:srgbClr val="1F2937"/>
                </a:solidFill>
                <a:latin typeface="Calibri"/>
              </a:rPr>
              <a:t>reducing accidents and improving overall security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7 / 11</a:t>
            </a:r>
          </a:p>
        </p:txBody>
      </p:sp>
      <p:sp>
        <p:nvSpPr>
          <p:cNvPr id="7" name="Accent Bar"/>
          <p:cNvSpPr/>
          <p:nvPr/>
        </p:nvSpPr>
        <p:spPr>
          <a:xfrm>
            <a:off x="329184" y="685800"/>
            <a:ext cx="64008" cy="685800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 Title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none" anchor="ctr" l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Revolutionizing Road Infrastructure with 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11094415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F2A44"/>
                </a:solidFill>
                <a:latin typeface="Calibri"/>
              </a:defRPr>
            </a:pPr>
            <a:r>
              <a:t>Future Directions and Challenges</a:t>
            </a:r>
          </a:p>
          <a:p>
            <a:pPr algn="l">
              <a:defRPr sz="1800">
                <a:solidFill>
                  <a:srgbClr val="475569"/>
                </a:solidFill>
                <a:latin typeface="Calibri"/>
              </a:defRPr>
            </a:pPr>
            <a:r>
              <a:t>Overcoming Barriers and Scaling Up AI Adoption</a:t>
            </a:r>
          </a:p>
        </p:txBody>
      </p:sp>
      <p:sp>
        <p:nvSpPr>
          <p:cNvPr id="3" name="Body Paragraph"/>
          <p:cNvSpPr txBox="1"/>
          <p:nvPr/>
        </p:nvSpPr>
        <p:spPr>
          <a:xfrm>
            <a:off x="548640" y="1645920"/>
            <a:ext cx="5410047" cy="1354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To fully realize the potential of AI in road infrastructure, challenges such as data quality, interoperability, and cybersecurity must be addressed.</a:t>
            </a:r>
          </a:p>
        </p:txBody>
      </p:sp>
      <p:sp>
        <p:nvSpPr>
          <p:cNvPr id="4" name="Bullet List"/>
          <p:cNvSpPr txBox="1"/>
          <p:nvPr/>
        </p:nvSpPr>
        <p:spPr>
          <a:xfrm>
            <a:off x="548640" y="3274568"/>
            <a:ext cx="5410047" cy="2989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 b="1">
                <a:solidFill>
                  <a:srgbClr val="0F2A44"/>
                </a:solidFill>
                <a:latin typeface="Calibri"/>
              </a:rPr>
              <a:t>• Data standardization: </a:t>
            </a:r>
            <a:r>
              <a:rPr b="0">
                <a:solidFill>
                  <a:srgbClr val="1F2937"/>
                </a:solidFill>
                <a:latin typeface="Calibri"/>
              </a:rPr>
              <a:t>ensuring consistency and comparability across systems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 b="1">
                <a:solidFill>
                  <a:srgbClr val="0F2A44"/>
                </a:solidFill>
                <a:latin typeface="Calibri"/>
              </a:rPr>
              <a:t>• Interoperability: </a:t>
            </a:r>
            <a:r>
              <a:rPr b="0">
                <a:solidFill>
                  <a:srgbClr val="1F2937"/>
                </a:solidFill>
                <a:latin typeface="Calibri"/>
              </a:rPr>
              <a:t>enabling seamless integration between different systems and technologies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 b="1">
                <a:solidFill>
                  <a:srgbClr val="0F2A44"/>
                </a:solidFill>
                <a:latin typeface="Calibri"/>
              </a:rPr>
              <a:t>• Cybersecurity: </a:t>
            </a:r>
            <a:r>
              <a:rPr b="0">
                <a:solidFill>
                  <a:srgbClr val="1F2937"/>
                </a:solidFill>
                <a:latin typeface="Calibri"/>
              </a:rPr>
              <a:t>protecting against threats and ensuring the integrity of AI systems</a:t>
            </a:r>
          </a:p>
        </p:txBody>
      </p:sp>
      <p:pic>
        <p:nvPicPr>
          <p:cNvPr id="5" name="Slide Image" descr="e6d23adbc17b678940a7ea34c7dda826f320b61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007" y="1645920"/>
            <a:ext cx="5410047" cy="4325112"/>
          </a:xfrm>
          <a:prstGeom prst="rect">
            <a:avLst/>
          </a:prstGeom>
        </p:spPr>
      </p:pic>
      <p:sp>
        <p:nvSpPr>
          <p:cNvPr id="6" name="Footer"/>
          <p:cNvSpPr txBox="1"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8 / 11</a:t>
            </a:r>
          </a:p>
        </p:txBody>
      </p:sp>
      <p:sp>
        <p:nvSpPr>
          <p:cNvPr id="7" name="Accent Bar"/>
          <p:cNvSpPr/>
          <p:nvPr/>
        </p:nvSpPr>
        <p:spPr>
          <a:xfrm>
            <a:off x="329184" y="685800"/>
            <a:ext cx="64008" cy="685800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mage Caption"/>
          <p:cNvSpPr txBox="1"/>
          <p:nvPr/>
        </p:nvSpPr>
        <p:spPr>
          <a:xfrm>
            <a:off x="6233007" y="5971032"/>
            <a:ext cx="5410047" cy="29260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Image: ahn-vertex.roadasset.co</a:t>
            </a:r>
          </a:p>
        </p:txBody>
      </p:sp>
      <p:sp>
        <p:nvSpPr>
          <p:cNvPr id="9" name="Footer Title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none" anchor="ctr" l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Revolutionizing Road Infrastructure with 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11094415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F2A44"/>
                </a:solidFill>
                <a:latin typeface="Calibri"/>
              </a:defRPr>
            </a:pPr>
            <a:r>
              <a:t>Conclusion</a:t>
            </a:r>
          </a:p>
          <a:p>
            <a:pPr algn="l">
              <a:defRPr sz="1800">
                <a:solidFill>
                  <a:srgbClr val="475569"/>
                </a:solidFill>
                <a:latin typeface="Calibri"/>
              </a:defRPr>
            </a:pPr>
            <a:r>
              <a:t>Key Takeaways and Future Directions</a:t>
            </a:r>
          </a:p>
        </p:txBody>
      </p:sp>
      <p:sp>
        <p:nvSpPr>
          <p:cNvPr id="3" name="Card"/>
          <p:cNvSpPr/>
          <p:nvPr/>
        </p:nvSpPr>
        <p:spPr>
          <a:xfrm>
            <a:off x="548640" y="1645920"/>
            <a:ext cx="3515258" cy="461772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164592"/>
          <a:lstStyle/>
          <a:p>
            <a:pPr algn="l">
              <a:defRPr sz="2200">
                <a:solidFill>
                  <a:srgbClr val="FFFFFF"/>
                </a:solidFill>
                <a:latin typeface="Calibri"/>
              </a:defRPr>
            </a:pPr>
            <a:r>
              <a:t>AI is transforming road infrastructure management with innovative tools improving safety, efficiency, and sustainability.</a:t>
            </a:r>
          </a:p>
        </p:txBody>
      </p:sp>
      <p:sp>
        <p:nvSpPr>
          <p:cNvPr id="4" name="Card"/>
          <p:cNvSpPr/>
          <p:nvPr/>
        </p:nvSpPr>
        <p:spPr>
          <a:xfrm>
            <a:off x="4338218" y="1645920"/>
            <a:ext cx="3515258" cy="461772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164592"/>
          <a:lstStyle/>
          <a:p>
            <a:pPr algn="l">
              <a:defRPr sz="2200">
                <a:solidFill>
                  <a:srgbClr val="FFFFFF"/>
                </a:solidFill>
                <a:latin typeface="Calibri"/>
              </a:defRPr>
            </a:pPr>
            <a:r>
              <a:t>AI-powered solutions are enabling more efficient, cost-effective, and sustainable construction processes.</a:t>
            </a:r>
          </a:p>
        </p:txBody>
      </p:sp>
      <p:sp>
        <p:nvSpPr>
          <p:cNvPr id="5" name="Card"/>
          <p:cNvSpPr/>
          <p:nvPr/>
        </p:nvSpPr>
        <p:spPr>
          <a:xfrm>
            <a:off x="8127796" y="1645920"/>
            <a:ext cx="3515258" cy="461772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164592"/>
          <a:lstStyle/>
          <a:p>
            <a:pPr algn="l">
              <a:defRPr sz="2200">
                <a:solidFill>
                  <a:srgbClr val="FFFFFF"/>
                </a:solidFill>
                <a:latin typeface="Calibri"/>
              </a:defRPr>
            </a:pPr>
            <a:r>
              <a:t>The full realization of an AI-enabled infrastructure vision has the potential to reduce logistics costs from 14% of GDP to below 8% by 2047.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9 / 11</a:t>
            </a:r>
          </a:p>
        </p:txBody>
      </p:sp>
      <p:sp>
        <p:nvSpPr>
          <p:cNvPr id="7" name="Accent Bar"/>
          <p:cNvSpPr/>
          <p:nvPr/>
        </p:nvSpPr>
        <p:spPr>
          <a:xfrm>
            <a:off x="329184" y="685800"/>
            <a:ext cx="64008" cy="685800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 Title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none" anchor="ctr" l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Revolutionizing Road Infrastructure with 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11094415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F2A44"/>
                </a:solidFill>
                <a:latin typeface="Calibri"/>
              </a:defRPr>
            </a:pPr>
            <a:r>
              <a:t>Sources &amp; Image Credits</a:t>
            </a:r>
          </a:p>
          <a:p>
            <a:pPr algn="l">
              <a:defRPr sz="1800">
                <a:solidFill>
                  <a:srgbClr val="475569"/>
                </a:solidFill>
                <a:latin typeface="Calibri"/>
              </a:defRPr>
            </a:pPr>
            <a:r>
              <a:t>Research and images used in this presentation</a:t>
            </a:r>
          </a:p>
        </p:txBody>
      </p:sp>
      <p:graphicFrame>
        <p:nvGraphicFramePr>
          <p:cNvPr id="3" name="Content Table"/>
          <p:cNvGraphicFramePr>
            <a:graphicFrameLocks noGrp="1"/>
          </p:cNvGraphicFramePr>
          <p:nvPr/>
        </p:nvGraphicFramePr>
        <p:xfrm>
          <a:off x="548640" y="1645920"/>
          <a:ext cx="1109441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1435"/>
                <a:gridCol w="5862980"/>
              </a:tblGrid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Link</a:t>
                      </a:r>
                    </a:p>
                  </a:txBody>
                  <a:tcPr>
                    <a:solidFill>
                      <a:srgbClr val="0F2A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5 Ways AI is Changing the Future of Road Infrastructure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roadvision.ai/blog/5-ways-ai-is-changing-the-future-of-road-infrastru…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AI in Road and Bridge Construction: Key Uses - cmicglobal.com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cmicglobal.com/resources/article/How-Construction-Firms-are-Using-AI-…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Top 10 AI Technologies Shaping the Future of Road 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roadvision.ai/blog/top-10-ai-technologies-shaping-the-future-of-road-…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PDF Al-powered road infrastructure transformation - Roads 2047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assets.kpmg.com/content/dam/kpmgsites/in/pdf/2025/09/ai-powered-road-…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AI in Infrastructure: Transforming Road and Bridge 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aiworldjournal.substack.com/p/ai-in-infrastructure-transforming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AI-powered road infrastructure transformation - Roads 2047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kpmg.com/in/en/insights/2025/09/ai-powered-road-infrastructure-transf…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PDF Artificial Intelligence Applications For Efficient Road Asset 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irf.global/ebooks/IRF-White-Paper-23_12.pdf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Footer"/>
          <p:cNvSpPr txBox="1"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10 / 11</a:t>
            </a:r>
          </a:p>
        </p:txBody>
      </p:sp>
      <p:sp>
        <p:nvSpPr>
          <p:cNvPr id="5" name="Accent Bar"/>
          <p:cNvSpPr/>
          <p:nvPr/>
        </p:nvSpPr>
        <p:spPr>
          <a:xfrm>
            <a:off x="329184" y="685800"/>
            <a:ext cx="64008" cy="685800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ooter Title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none" anchor="ctr" l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Revolutionizing Road Infrastructure with 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11094415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F2A44"/>
                </a:solidFill>
                <a:latin typeface="Calibri"/>
              </a:defRPr>
            </a:pPr>
            <a:r>
              <a:t>Sources &amp; Image Credits (continued)</a:t>
            </a:r>
          </a:p>
        </p:txBody>
      </p:sp>
      <p:graphicFrame>
        <p:nvGraphicFramePr>
          <p:cNvPr id="3" name="Content Table"/>
          <p:cNvGraphicFramePr>
            <a:graphicFrameLocks noGrp="1"/>
          </p:cNvGraphicFramePr>
          <p:nvPr/>
        </p:nvGraphicFramePr>
        <p:xfrm>
          <a:off x="548640" y="1645920"/>
          <a:ext cx="1109441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3480"/>
                <a:gridCol w="5400935"/>
              </a:tblGrid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Link</a:t>
                      </a:r>
                    </a:p>
                  </a:txBody>
                  <a:tcPr>
                    <a:solidFill>
                      <a:srgbClr val="0F2A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AI Work for Infrastructure | Roads &amp; Bridges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roadsbridges.com/editorialcommentary/article/55411104/ai-work-for-inf…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Image (slide: Revolutionizing Road Infrastructure with AI) — constructionworld.in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constructionworld.in/transport-infrastructure/highways-and-roads-infr…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Image (slide: Introduction to AI in Road Infrastructure) — kpmg.com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kpmg.com/in/en/insights/2025/09/ai-powered-road-infrastructure-transf…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Image (slide: Design and Planning Optimization) — aps.autodesk.com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aps.autodesk.com/blog/experimenting-ai-assisted-road-design-check-opt…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Image (slide: Maintenance and Asset Management) — oxmaint.com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oxmaint.com/industries/government/road-maintenance-robots-smart-citie…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Image (slide: Safety and Security Enhancement) — carsifu.my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carsifu.my/index.php/news/ai-powered-system-aims-to-revolutionise-roa…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Image (slide: Future Directions and Challenges) — ahn-vertex.roadasset.co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ahn-vertex.roadasset.co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Footer"/>
          <p:cNvSpPr txBox="1"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11 / 11</a:t>
            </a:r>
          </a:p>
        </p:txBody>
      </p:sp>
      <p:sp>
        <p:nvSpPr>
          <p:cNvPr id="5" name="Accent Bar"/>
          <p:cNvSpPr/>
          <p:nvPr/>
        </p:nvSpPr>
        <p:spPr>
          <a:xfrm>
            <a:off x="329184" y="685800"/>
            <a:ext cx="64008" cy="685800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ooter Title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none" anchor="ctr" l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Revolutionizing Road Infrastructure with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