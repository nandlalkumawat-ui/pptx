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https://newscooper.co.uk/wp-content/uploads/2024/05/How-AI-in-Self-Driving-Cars-is-Changing-the-Automobile-Industry-1000x600.webp</a:t>
            </a:r>
          </a:p>
          <a:p/>
          <a:p>
            <a:r>
              <a:t>Sources:</a:t>
            </a:r>
          </a:p>
          <a:p>
            <a:r>
              <a:t>https://newscooper.co.uk/how-ai-in-self-driving-cars-is-changing-the-automobile-industry-everything-to-know/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AI_in_industry" TargetMode="External"/><Relationship Id="rId3" Type="http://schemas.openxmlformats.org/officeDocument/2006/relationships/hyperlink" Target="https://en.wikipedia.org/wiki/Artificial_intelligence_in_industry" TargetMode="External"/><Relationship Id="rId4" Type="http://schemas.openxmlformats.org/officeDocument/2006/relationships/hyperlink" Target="https://grokipedia.com/page/AI_Sales_Agents_in_the_Fitness_Industry" TargetMode="External"/><Relationship Id="rId5" Type="http://schemas.openxmlformats.org/officeDocument/2006/relationships/hyperlink" Target="https://codewave.com/insights/ai-adoption-industry-trends-insights/" TargetMode="External"/><Relationship Id="rId6" Type="http://schemas.openxmlformats.org/officeDocument/2006/relationships/hyperlink" Target="https://builtin.com/artificial-intelligence/examples-ai-in-industry" TargetMode="External"/><Relationship Id="rId7" Type="http://schemas.openxmlformats.org/officeDocument/2006/relationships/hyperlink" Target="https://www.mckinsey.com/capabilities/quantumblack/our-insights/the-state-of-ai" TargetMode="External"/><Relationship Id="rId8" Type="http://schemas.openxmlformats.org/officeDocument/2006/relationships/hyperlink" Target="https://www.forbes.com/advisor/business/software/ai-in-business/" TargetMode="External"/><Relationship Id="rId9" Type="http://schemas.openxmlformats.org/officeDocument/2006/relationships/hyperlink" Target="https://www.sciencedirect.com/science/article/pii/S2773207X24001386" TargetMode="External"/><Relationship Id="rId10" Type="http://schemas.openxmlformats.org/officeDocument/2006/relationships/hyperlink" Target="https://newscooper.co.uk/how-ai-in-self-driving-cars-is-changing-the-automobile-industry-everything-to-know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2148840"/>
            <a:ext cx="822960" cy="73152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2331720"/>
            <a:ext cx="9722815" cy="201168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What is Industrial AI?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4434840"/>
            <a:ext cx="9722815" cy="91440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Applying AI to Address Industrial Pain-Points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Key Enablers of Industrial AI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Advancements in Sensors, Computation, and Connectivity</a:t>
            </a:r>
          </a:p>
        </p:txBody>
      </p:sp>
      <p:sp>
        <p:nvSpPr>
          <p:cNvPr id="5" name="Decoration Panel"/>
          <p:cNvSpPr/>
          <p:nvPr/>
        </p:nvSpPr>
        <p:spPr>
          <a:xfrm>
            <a:off x="548640" y="1783080"/>
            <a:ext cx="4206240" cy="2392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ation Accent"/>
          <p:cNvSpPr/>
          <p:nvPr/>
        </p:nvSpPr>
        <p:spPr>
          <a:xfrm>
            <a:off x="548640" y="1783080"/>
            <a:ext cx="64008" cy="2392680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dy Paragraph"/>
          <p:cNvSpPr txBox="1"/>
          <p:nvPr/>
        </p:nvSpPr>
        <p:spPr>
          <a:xfrm>
            <a:off x="868680" y="2057400"/>
            <a:ext cx="3657599" cy="193548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0F2A44"/>
                </a:solidFill>
                <a:latin typeface="Calibri"/>
              </a:rPr>
              <a:t>More affordable sensors and automated data acquisition More powerful computation capability for complex tasks at faster speeds with lower costs</a:t>
            </a:r>
          </a:p>
        </p:txBody>
      </p:sp>
      <p:sp>
        <p:nvSpPr>
          <p:cNvPr id="8" name="Bullet List"/>
          <p:cNvSpPr txBox="1"/>
          <p:nvPr/>
        </p:nvSpPr>
        <p:spPr>
          <a:xfrm>
            <a:off x="5212079" y="1874519"/>
            <a:ext cx="6430975" cy="429768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Sensor advancements: </a:t>
            </a:r>
            <a:r>
              <a:rPr sz="1800" b="0">
                <a:solidFill>
                  <a:srgbClr val="1F2937"/>
                </a:solidFill>
                <a:latin typeface="Calibri"/>
              </a:rPr>
              <a:t>enabling real-time monitoring and feedback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Cloud services: </a:t>
            </a:r>
            <a:r>
              <a:rPr sz="1800" b="0">
                <a:solidFill>
                  <a:srgbClr val="1F2937"/>
                </a:solidFill>
                <a:latin typeface="Calibri"/>
              </a:rPr>
              <a:t>outsourcing data management and computing power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Unlocking Industry Potential with AI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AI Adoption by Industry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Trends and Insights Across Sectors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11094415" cy="64922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Healthcare: AI-powered diagnosis and treatment Finance: AI-driven risk management and customer service</a:t>
            </a:r>
          </a:p>
        </p:txBody>
      </p:sp>
      <p:graphicFrame>
        <p:nvGraphicFramePr>
          <p:cNvPr id="6" name="Content Table"/>
          <p:cNvGraphicFramePr>
            <a:graphicFrameLocks noGrp="1"/>
          </p:cNvGraphicFramePr>
          <p:nvPr/>
        </p:nvGraphicFramePr>
        <p:xfrm>
          <a:off x="548640" y="2615184"/>
          <a:ext cx="69494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5266"/>
                <a:gridCol w="3834173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anchor="ctr" marL="91440" marR="91440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AI Adoption Rate</a:t>
                      </a:r>
                    </a:p>
                  </a:txBody>
                  <a:tcPr anchor="ctr" marL="91440" marR="91440">
                    <a:solidFill>
                      <a:srgbClr val="0F2A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Healthcare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&gt;75%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&gt;60%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Retail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&gt;55%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Manufacturing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&gt;50%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Bullet List"/>
          <p:cNvSpPr txBox="1"/>
          <p:nvPr/>
        </p:nvSpPr>
        <p:spPr>
          <a:xfrm>
            <a:off x="7909559" y="2615184"/>
            <a:ext cx="3733495" cy="3557015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Retail: </a:t>
            </a:r>
            <a:r>
              <a:rPr sz="1800" b="0">
                <a:solidFill>
                  <a:srgbClr val="1F2937"/>
                </a:solidFill>
                <a:latin typeface="Calibri"/>
              </a:rPr>
              <a:t>AI-enhanced supply chain management and inventory control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Manufacturing: </a:t>
            </a:r>
            <a:r>
              <a:rPr sz="1800" b="0">
                <a:solidFill>
                  <a:srgbClr val="1F2937"/>
                </a:solidFill>
                <a:latin typeface="Calibri"/>
              </a:rPr>
              <a:t>AI-optimized production planning and quality control</a:t>
            </a:r>
          </a:p>
        </p:txBody>
      </p:sp>
      <p:sp>
        <p:nvSpPr>
          <p:cNvPr id="8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Unlocking Industry Potential with AI</a:t>
            </a:r>
          </a:p>
        </p:txBody>
      </p:sp>
      <p:sp>
        <p:nvSpPr>
          <p:cNvPr id="9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Examples of AI in Industry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Innovative Applications Across Sectors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5852160" cy="905256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Smart virtual assistants and self-driving cars Checkout-free grocery shopping and personalized customer service</a:t>
            </a:r>
          </a:p>
        </p:txBody>
      </p:sp>
      <p:sp>
        <p:nvSpPr>
          <p:cNvPr id="6" name="Bullet List"/>
          <p:cNvSpPr txBox="1"/>
          <p:nvPr/>
        </p:nvSpPr>
        <p:spPr>
          <a:xfrm>
            <a:off x="548640" y="2825496"/>
            <a:ext cx="5852160" cy="334670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AI-powered chatbots: </a:t>
            </a:r>
            <a:r>
              <a:rPr sz="1800" b="0">
                <a:solidFill>
                  <a:srgbClr val="1F2937"/>
                </a:solidFill>
                <a:latin typeface="Calibri"/>
              </a:rPr>
              <a:t>improving customer engagement and support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Predictive analytics: </a:t>
            </a:r>
            <a:r>
              <a:rPr sz="1800" b="0">
                <a:solidFill>
                  <a:srgbClr val="1F2937"/>
                </a:solidFill>
                <a:latin typeface="Calibri"/>
              </a:rPr>
              <a:t>optimizing supply chain management and inventory control</a:t>
            </a:r>
          </a:p>
        </p:txBody>
      </p:sp>
      <p:pic>
        <p:nvPicPr>
          <p:cNvPr id="7" name="Slide Image" descr="1004d113d25d0966bbf2618f8ecd92aa3130ef85_1600.jpg"/>
          <p:cNvPicPr>
            <a:picLocks noChangeAspect="1"/>
          </p:cNvPicPr>
          <p:nvPr/>
        </p:nvPicPr>
        <p:blipFill>
          <a:blip r:embed="rId2"/>
          <a:srcRect l="12264" r="12264"/>
          <a:stretch>
            <a:fillRect/>
          </a:stretch>
        </p:blipFill>
        <p:spPr>
          <a:xfrm>
            <a:off x="6812280" y="1783080"/>
            <a:ext cx="4830775" cy="3840480"/>
          </a:xfrm>
          <a:prstGeom prst="rect">
            <a:avLst/>
          </a:prstGeom>
        </p:spPr>
      </p:pic>
      <p:sp>
        <p:nvSpPr>
          <p:cNvPr id="8" name="Image Caption"/>
          <p:cNvSpPr txBox="1"/>
          <p:nvPr/>
        </p:nvSpPr>
        <p:spPr>
          <a:xfrm>
            <a:off x="6812280" y="5678424"/>
            <a:ext cx="4830775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Image: newscooper.co.uk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Unlocking Industry Potential with AI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The Future of AI in Industry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Trends and Insights from the McKinsey State of AI Survey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11094415" cy="393192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Increased adoption across industries Growing demand for AI talent and skills</a:t>
            </a:r>
          </a:p>
        </p:txBody>
      </p:sp>
      <p:graphicFrame>
        <p:nvGraphicFramePr>
          <p:cNvPr id="6" name="Content Table"/>
          <p:cNvGraphicFramePr>
            <a:graphicFrameLocks noGrp="1"/>
          </p:cNvGraphicFramePr>
          <p:nvPr/>
        </p:nvGraphicFramePr>
        <p:xfrm>
          <a:off x="548640" y="2359152"/>
          <a:ext cx="69494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5266"/>
                <a:gridCol w="3834173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anchor="ctr" marL="91440" marR="91440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AI Adoption Rate</a:t>
                      </a:r>
                    </a:p>
                  </a:txBody>
                  <a:tcPr anchor="ctr" marL="91440" marR="91440">
                    <a:solidFill>
                      <a:srgbClr val="0F2A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Healthcare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&gt;80%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&gt;70%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Retail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&gt;65%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Manufacturing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&gt;60%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Bullet List"/>
          <p:cNvSpPr txBox="1"/>
          <p:nvPr/>
        </p:nvSpPr>
        <p:spPr>
          <a:xfrm>
            <a:off x="7909559" y="2359152"/>
            <a:ext cx="3733495" cy="3813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AI-driven innovation: </a:t>
            </a:r>
            <a:r>
              <a:rPr sz="1800" b="0">
                <a:solidFill>
                  <a:srgbClr val="1F2937"/>
                </a:solidFill>
                <a:latin typeface="Calibri"/>
              </a:rPr>
              <a:t>transforming business models and operations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Ethics and governance: </a:t>
            </a:r>
            <a:r>
              <a:rPr sz="1800" b="0">
                <a:solidFill>
                  <a:srgbClr val="1F2937"/>
                </a:solidFill>
                <a:latin typeface="Calibri"/>
              </a:rPr>
              <a:t>ensuring responsible AI development and deployment</a:t>
            </a:r>
          </a:p>
        </p:txBody>
      </p:sp>
      <p:sp>
        <p:nvSpPr>
          <p:cNvPr id="8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Unlocking Industry Potential with AI</a:t>
            </a:r>
          </a:p>
        </p:txBody>
      </p:sp>
      <p:sp>
        <p:nvSpPr>
          <p:cNvPr id="9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94A3B8"/>
                </a:solidFill>
                <a:latin typeface="Calibri"/>
              </a:rPr>
              <a:t>Unlocking Industry Potential with AI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3545738" cy="2258568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ation Badge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777240" y="2697480"/>
            <a:ext cx="3088538" cy="1161287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Industrial AI is transforming business processes and operations across industries.</a:t>
            </a:r>
          </a:p>
        </p:txBody>
      </p:sp>
      <p:sp>
        <p:nvSpPr>
          <p:cNvPr id="8" name="Decoration Arrow"/>
          <p:cNvSpPr/>
          <p:nvPr/>
        </p:nvSpPr>
        <p:spPr>
          <a:xfrm>
            <a:off x="4121810" y="2802635"/>
            <a:ext cx="173736" cy="219456"/>
          </a:xfrm>
          <a:prstGeom prst="rightArrow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"/>
          <p:cNvSpPr/>
          <p:nvPr/>
        </p:nvSpPr>
        <p:spPr>
          <a:xfrm>
            <a:off x="4322978" y="1783080"/>
            <a:ext cx="3545738" cy="2258568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ration Badge"/>
          <p:cNvSpPr/>
          <p:nvPr/>
        </p:nvSpPr>
        <p:spPr>
          <a:xfrm>
            <a:off x="4551578" y="2011680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Card Text"/>
          <p:cNvSpPr txBox="1"/>
          <p:nvPr/>
        </p:nvSpPr>
        <p:spPr>
          <a:xfrm>
            <a:off x="4551578" y="2697480"/>
            <a:ext cx="3088538" cy="1161287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Key enablers include advancements in sensors, computation, and connectivity.</a:t>
            </a:r>
          </a:p>
        </p:txBody>
      </p:sp>
      <p:sp>
        <p:nvSpPr>
          <p:cNvPr id="12" name="Decoration Arrow"/>
          <p:cNvSpPr/>
          <p:nvPr/>
        </p:nvSpPr>
        <p:spPr>
          <a:xfrm>
            <a:off x="7896148" y="2802635"/>
            <a:ext cx="173736" cy="219456"/>
          </a:xfrm>
          <a:prstGeom prst="rightArrow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"/>
          <p:cNvSpPr/>
          <p:nvPr/>
        </p:nvSpPr>
        <p:spPr>
          <a:xfrm>
            <a:off x="8097316" y="1783080"/>
            <a:ext cx="3545738" cy="2258568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coration Badge"/>
          <p:cNvSpPr/>
          <p:nvPr/>
        </p:nvSpPr>
        <p:spPr>
          <a:xfrm>
            <a:off x="8325916" y="2011680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Card Text"/>
          <p:cNvSpPr txBox="1"/>
          <p:nvPr/>
        </p:nvSpPr>
        <p:spPr>
          <a:xfrm>
            <a:off x="8325916" y="2697480"/>
            <a:ext cx="3088538" cy="1161287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AI adoption rates are increasing across sectors, driven by innovation and demand.</a:t>
            </a:r>
          </a:p>
        </p:txBody>
      </p:sp>
      <p:sp>
        <p:nvSpPr>
          <p:cNvPr id="16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Unlocking Industry Potential with AI</a:t>
            </a:r>
          </a:p>
        </p:txBody>
      </p:sp>
      <p:sp>
        <p:nvSpPr>
          <p:cNvPr id="17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Slide 7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5432907" cy="2258568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ation Badge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Card Text"/>
          <p:cNvSpPr txBox="1"/>
          <p:nvPr/>
        </p:nvSpPr>
        <p:spPr>
          <a:xfrm>
            <a:off x="777240" y="2697480"/>
            <a:ext cx="4975707" cy="1161287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AI is revolutionizing industries worldwide, transforming business models and operations.</a:t>
            </a:r>
          </a:p>
        </p:txBody>
      </p:sp>
      <p:sp>
        <p:nvSpPr>
          <p:cNvPr id="7" name="Decoration Arrow"/>
          <p:cNvSpPr/>
          <p:nvPr/>
        </p:nvSpPr>
        <p:spPr>
          <a:xfrm>
            <a:off x="6008979" y="2802635"/>
            <a:ext cx="173736" cy="219456"/>
          </a:xfrm>
          <a:prstGeom prst="rightArrow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6210147" y="1783080"/>
            <a:ext cx="5432907" cy="2258568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ration Badge"/>
          <p:cNvSpPr/>
          <p:nvPr/>
        </p:nvSpPr>
        <p:spPr>
          <a:xfrm>
            <a:off x="6438747" y="2011680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ard Text"/>
          <p:cNvSpPr txBox="1"/>
          <p:nvPr/>
        </p:nvSpPr>
        <p:spPr>
          <a:xfrm>
            <a:off x="6438747" y="2697480"/>
            <a:ext cx="4975707" cy="1161287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Key takeaways include the growing demand for AI talent and skills, as well as the need for responsible AI development and deployment.</a:t>
            </a:r>
          </a:p>
        </p:txBody>
      </p:sp>
      <p:sp>
        <p:nvSpPr>
          <p:cNvPr id="11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Unlocking Industry Potential with AI</a:t>
            </a:r>
          </a:p>
        </p:txBody>
      </p:sp>
      <p:sp>
        <p:nvSpPr>
          <p:cNvPr id="12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Slide 8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5432907" cy="2002536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ation Badge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Card Text"/>
          <p:cNvSpPr txBox="1"/>
          <p:nvPr/>
        </p:nvSpPr>
        <p:spPr>
          <a:xfrm>
            <a:off x="777240" y="2697480"/>
            <a:ext cx="4975707" cy="905256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Industrial AI is a key driver of innovation and growth across industries.</a:t>
            </a:r>
          </a:p>
        </p:txBody>
      </p:sp>
      <p:sp>
        <p:nvSpPr>
          <p:cNvPr id="7" name="Decoration Arrow"/>
          <p:cNvSpPr/>
          <p:nvPr/>
        </p:nvSpPr>
        <p:spPr>
          <a:xfrm>
            <a:off x="6008979" y="2674620"/>
            <a:ext cx="173736" cy="219456"/>
          </a:xfrm>
          <a:prstGeom prst="rightArrow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6210147" y="1783080"/>
            <a:ext cx="5432907" cy="2002536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ration Badge"/>
          <p:cNvSpPr/>
          <p:nvPr/>
        </p:nvSpPr>
        <p:spPr>
          <a:xfrm>
            <a:off x="6438747" y="2011680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ard Text"/>
          <p:cNvSpPr txBox="1"/>
          <p:nvPr/>
        </p:nvSpPr>
        <p:spPr>
          <a:xfrm>
            <a:off x="6438747" y="2697480"/>
            <a:ext cx="4975707" cy="905256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Its adoption rates are increasing, driven by the need for productivity improvement, cost reduction, and site optimization.</a:t>
            </a:r>
          </a:p>
        </p:txBody>
      </p:sp>
      <p:sp>
        <p:nvSpPr>
          <p:cNvPr id="11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Unlocking Industry Potential with AI</a:t>
            </a:r>
          </a:p>
        </p:txBody>
      </p:sp>
      <p:sp>
        <p:nvSpPr>
          <p:cNvPr id="12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Slide 9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5432907" cy="2258568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ation Badge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Card Text"/>
          <p:cNvSpPr txBox="1"/>
          <p:nvPr/>
        </p:nvSpPr>
        <p:spPr>
          <a:xfrm>
            <a:off x="777240" y="2697480"/>
            <a:ext cx="4975707" cy="1161287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The future of AI in industry is bright, with increasing adoption rates and innovative applications across sectors.</a:t>
            </a:r>
          </a:p>
        </p:txBody>
      </p:sp>
      <p:sp>
        <p:nvSpPr>
          <p:cNvPr id="7" name="Decoration Arrow"/>
          <p:cNvSpPr/>
          <p:nvPr/>
        </p:nvSpPr>
        <p:spPr>
          <a:xfrm>
            <a:off x="6008979" y="2802635"/>
            <a:ext cx="173736" cy="219456"/>
          </a:xfrm>
          <a:prstGeom prst="rightArrow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6210147" y="1783080"/>
            <a:ext cx="5432907" cy="2258568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ration Badge"/>
          <p:cNvSpPr/>
          <p:nvPr/>
        </p:nvSpPr>
        <p:spPr>
          <a:xfrm>
            <a:off x="6438747" y="2011680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ard Text"/>
          <p:cNvSpPr txBox="1"/>
          <p:nvPr/>
        </p:nvSpPr>
        <p:spPr>
          <a:xfrm>
            <a:off x="6438747" y="2697480"/>
            <a:ext cx="4975707" cy="1161287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However, it also raises important questions about ethics and governance, ensuring responsible AI development and deployment.</a:t>
            </a:r>
          </a:p>
        </p:txBody>
      </p:sp>
      <p:sp>
        <p:nvSpPr>
          <p:cNvPr id="11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Unlocking Industry Potential with AI</a:t>
            </a:r>
          </a:p>
        </p:txBody>
      </p:sp>
      <p:sp>
        <p:nvSpPr>
          <p:cNvPr id="12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Sources &amp; Image Credits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Research and images used in this presentation</a:t>
            </a:r>
          </a:p>
        </p:txBody>
      </p:sp>
      <p:sp>
        <p:nvSpPr>
          <p:cNvPr id="5" name="Bullet List"/>
          <p:cNvSpPr txBox="1"/>
          <p:nvPr/>
        </p:nvSpPr>
        <p:spPr>
          <a:xfrm>
            <a:off x="548640" y="1783080"/>
            <a:ext cx="11094415" cy="43891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AI in industry</a:t>
            </a:r>
            <a:r>
              <a:rPr sz="1300" b="0">
                <a:solidFill>
                  <a:srgbClr val="0E9F9A"/>
                </a:solidFill>
                <a:latin typeface="Calibri"/>
                <a:hlinkClick r:id="rId2"/>
              </a:rPr>
              <a:t>  —  en.wikipedia.org/wiki/AI_in_industry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Artificial intelligence in industry - Wikipedia</a:t>
            </a:r>
            <a:r>
              <a:rPr sz="1300" b="0">
                <a:solidFill>
                  <a:srgbClr val="0E9F9A"/>
                </a:solidFill>
                <a:latin typeface="Calibri"/>
                <a:hlinkClick r:id="rId3"/>
              </a:rPr>
              <a:t>  —  en.wikipedia.org/wiki/Artificial_intelligence_in_industry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AI Sales Agents in the Fitness Industry</a:t>
            </a:r>
            <a:r>
              <a:rPr sz="1300" b="0">
                <a:solidFill>
                  <a:srgbClr val="0E9F9A"/>
                </a:solidFill>
                <a:latin typeface="Calibri"/>
                <a:hlinkClick r:id="rId4"/>
              </a:rPr>
              <a:t>  —  grokipedia.com/page/AI_Sales_Agents_in_the_Fitness_Industry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AI Adoption by Industry: How Different Sectors Are Using AI at Scale in ...</a:t>
            </a:r>
            <a:r>
              <a:rPr sz="1300" b="0">
                <a:solidFill>
                  <a:srgbClr val="0E9F9A"/>
                </a:solidFill>
                <a:latin typeface="Calibri"/>
                <a:hlinkClick r:id="rId5"/>
              </a:rPr>
              <a:t>  —  codewave.com/insights/ai-adoption-industry-trends-insights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97 Artificial Intelligence Examples Across Industries - Built In</a:t>
            </a:r>
            <a:r>
              <a:rPr sz="1300" b="0">
                <a:solidFill>
                  <a:srgbClr val="0E9F9A"/>
                </a:solidFill>
                <a:latin typeface="Calibri"/>
                <a:hlinkClick r:id="rId6"/>
              </a:rPr>
              <a:t>  —  builtin.com/artificial-intelligence/examples-ai-in-industry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The State of AI: Global Survey 2026 | McKinsey</a:t>
            </a:r>
            <a:r>
              <a:rPr sz="1300" b="0">
                <a:solidFill>
                  <a:srgbClr val="0E9F9A"/>
                </a:solidFill>
                <a:latin typeface="Calibri"/>
                <a:hlinkClick r:id="rId7"/>
              </a:rPr>
              <a:t>  —  mckinsey.com/capabilities/quantumblack/our-insights/the-state-of-ai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How Businesses Are Using Artificial Intelligence - Forbes</a:t>
            </a:r>
            <a:r>
              <a:rPr sz="1300" b="0">
                <a:solidFill>
                  <a:srgbClr val="0E9F9A"/>
                </a:solidFill>
                <a:latin typeface="Calibri"/>
                <a:hlinkClick r:id="rId8"/>
              </a:rPr>
              <a:t>  —  forbes.com/advisor/business/software/ai-in-business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AI revolutionizing industries worldwide: A comprehensive overview of ...</a:t>
            </a:r>
            <a:r>
              <a:rPr sz="1300" b="0">
                <a:solidFill>
                  <a:srgbClr val="0E9F9A"/>
                </a:solidFill>
                <a:latin typeface="Calibri"/>
                <a:hlinkClick r:id="rId9"/>
              </a:rPr>
              <a:t>  —  sciencedirect.com/science/article/pii/S2773207X24001386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300" b="0">
                <a:solidFill>
                  <a:srgbClr val="1F2937"/>
                </a:solidFill>
                <a:latin typeface="Calibri"/>
              </a:rPr>
              <a:t>Image (slide: Examples of AI in Industry) — newscooper.co.uk</a:t>
            </a:r>
            <a:r>
              <a:rPr sz="1300" b="0">
                <a:solidFill>
                  <a:srgbClr val="0E9F9A"/>
                </a:solidFill>
                <a:latin typeface="Calibri"/>
                <a:hlinkClick r:id="rId10"/>
              </a:rPr>
              <a:t>  —  newscooper.co.uk/how-ai-in-self-driving-cars-is-changing-the-automobi…</a:t>
            </a:r>
          </a:p>
        </p:txBody>
      </p:sp>
      <p:sp>
        <p:nvSpPr>
          <p:cNvPr id="6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Unlocking Industry Potential with AI</a:t>
            </a:r>
          </a:p>
        </p:txBody>
      </p:sp>
      <p:sp>
        <p:nvSpPr>
          <p:cNvPr id="7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