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source: https://evautostreet.com/wp-content/uploads/2026/03/What-Are-EV-Batteries_-A-Complete-Beginners-Guide-scaled.jpg</a:t>
            </a:r>
          </a:p>
          <a:p/>
          <a:p>
            <a:r>
              <a:t>Sources:</a:t>
            </a:r>
          </a:p>
          <a:p>
            <a:r>
              <a:t>https://evautostreet.com/what-are-ev-batteries-a-complete-beginners-guide/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source: https://batteryswapcabinet.com/wp-content/uploads/2024/11/Top-10-EV-battery-technologies-which-is-the-best.webp</a:t>
            </a:r>
          </a:p>
          <a:p/>
          <a:p>
            <a:r>
              <a:t>Sources:</a:t>
            </a:r>
          </a:p>
          <a:p>
            <a:r>
              <a:t>https://batteryswapcabinet.com/top-10-ev-battery-technologies-which-is-the-best/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source: https://www.slideteam.net/media/catalog/product/cache/1280x720/m/a/major_advancements_in_ev_battery_technology_exploring_opportunities_ppt_example_slide01.jpg</a:t>
            </a:r>
          </a:p>
          <a:p/>
          <a:p>
            <a:r>
              <a:t>Sources:</a:t>
            </a:r>
          </a:p>
          <a:p>
            <a:r>
              <a:t>https://www.slideteam.net/major-advancements-in-ev-battery-technology-exploring-opportunities-ppt-example.html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source: https://drivegreenjourney.com/wp-content/uploads/2025/01/EV-battery-technology.jpg</a:t>
            </a:r>
          </a:p>
          <a:p/>
          <a:p>
            <a:r>
              <a:t>Sources:</a:t>
            </a:r>
          </a:p>
          <a:p>
            <a:r>
              <a:t>https://drivegreenjourney.com/ev-battery-technology-is-shaping-the-future/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source: https://pub.mdpi-res.com/batteries/batteries-11-00209/article_deploy/html/images/batteries-11-00209-g008.png?1748423561</a:t>
            </a:r>
          </a:p>
          <a:p/>
          <a:p>
            <a:r>
              <a:t>Sources:</a:t>
            </a:r>
          </a:p>
          <a:p>
            <a:r>
              <a:t>https://www.mdpi.com/2313-0105/11/6/209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Electric_vehicle_battery" TargetMode="External"/><Relationship Id="rId3" Type="http://schemas.openxmlformats.org/officeDocument/2006/relationships/hyperlink" Target="https://www.acte.in/ev-battery-guide" TargetMode="External"/><Relationship Id="rId4" Type="http://schemas.openxmlformats.org/officeDocument/2006/relationships/hyperlink" Target="https://www.technologyreview.com/2026/02/02/1132042/whats-next-for-ev-batteries-in-2026/" TargetMode="External"/><Relationship Id="rId5" Type="http://schemas.openxmlformats.org/officeDocument/2006/relationships/hyperlink" Target="https://www.sciencedirect.com/science/article/pii/S2590174524002290" TargetMode="External"/><Relationship Id="rId6" Type="http://schemas.openxmlformats.org/officeDocument/2006/relationships/hyperlink" Target="https://www.mobilityglobal.com/en-us/automotive-insights/blog/the-evolution-of-electric-vehicle-battery-technology" TargetMode="External"/><Relationship Id="rId7" Type="http://schemas.openxmlformats.org/officeDocument/2006/relationships/hyperlink" Target="https://academic.oup.com/ce/article/9/6/293/8256348" TargetMode="External"/><Relationship Id="rId8" Type="http://schemas.openxmlformats.org/officeDocument/2006/relationships/hyperlink" Target="https://www.sciencetimes.com/articles/60797/20251115/how-do-electric-vehicles-work-simple-guide-ev-technology-motors-batteries.htm" TargetMode="External"/><Relationship Id="rId9" Type="http://schemas.openxmlformats.org/officeDocument/2006/relationships/hyperlink" Target="https://www.motortrend.com/news/ev-battery-technology-future-emerging" TargetMode="External"/><Relationship Id="rId10" Type="http://schemas.openxmlformats.org/officeDocument/2006/relationships/hyperlink" Target="https://evautostreet.com/what-are-ev-batteries-a-complete-beginners-guide/" TargetMode="External"/><Relationship Id="rId11" Type="http://schemas.openxmlformats.org/officeDocument/2006/relationships/hyperlink" Target="https://batteryswapcabinet.com/top-10-ev-battery-technologies-which-is-the-best/" TargetMode="External"/><Relationship Id="rId12" Type="http://schemas.openxmlformats.org/officeDocument/2006/relationships/hyperlink" Target="https://www.slideteam.net/major-advancements-in-ev-battery-technology-exploring-opportunities-ppt-example.html" TargetMode="External"/><Relationship Id="rId13" Type="http://schemas.openxmlformats.org/officeDocument/2006/relationships/hyperlink" Target="https://drivegreenjourney.com/ev-battery-technology-is-shaping-the-future/" TargetMode="External"/><Relationship Id="rId14" Type="http://schemas.openxmlformats.org/officeDocument/2006/relationships/hyperlink" Target="https://www.mdpi.com/2313-0105/11/6/209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lide Image" descr="2c46b3d805f49514c0337b212734daab79e88634_1600.jpg"/>
          <p:cNvPicPr>
            <a:picLocks noChangeAspect="1"/>
          </p:cNvPicPr>
          <p:nvPr/>
        </p:nvPicPr>
        <p:blipFill>
          <a:blip r:embed="rId2"/>
          <a:srcRect l="27564" r="27564"/>
          <a:stretch>
            <a:fillRect/>
          </a:stretch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3" name="Image Caption"/>
          <p:cNvSpPr txBox="1"/>
          <p:nvPr/>
        </p:nvSpPr>
        <p:spPr>
          <a:xfrm>
            <a:off x="548640" y="6419088"/>
            <a:ext cx="57150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Image: evautostreet.com</a:t>
            </a:r>
          </a:p>
        </p:txBody>
      </p:sp>
      <p:sp>
        <p:nvSpPr>
          <p:cNvPr id="4" name="Decoration Accent"/>
          <p:cNvSpPr/>
          <p:nvPr/>
        </p:nvSpPr>
        <p:spPr>
          <a:xfrm>
            <a:off x="548640" y="2148840"/>
            <a:ext cx="822960" cy="73152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lide Title"/>
          <p:cNvSpPr txBox="1"/>
          <p:nvPr/>
        </p:nvSpPr>
        <p:spPr>
          <a:xfrm>
            <a:off x="548640" y="2331720"/>
            <a:ext cx="5715000" cy="201168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Introduction to EV Batteries</a:t>
            </a:r>
          </a:p>
        </p:txBody>
      </p:sp>
      <p:sp>
        <p:nvSpPr>
          <p:cNvPr id="6" name="Slide Subtitle"/>
          <p:cNvSpPr txBox="1"/>
          <p:nvPr/>
        </p:nvSpPr>
        <p:spPr>
          <a:xfrm>
            <a:off x="548640" y="4434840"/>
            <a:ext cx="5715000" cy="91440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E2E8F0"/>
                </a:solidFill>
                <a:latin typeface="Calibri"/>
              </a:rPr>
              <a:t>Understanding the Basics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 Accent"/>
          <p:cNvSpPr/>
          <p:nvPr/>
        </p:nvSpPr>
        <p:spPr>
          <a:xfrm>
            <a:off x="548640" y="384048"/>
            <a:ext cx="640080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 Title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b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0F2A44"/>
                </a:solidFill>
                <a:latin typeface="Calibri"/>
              </a:rPr>
              <a:t>Current EV Battery Technologies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Lithium-Ion Dominance</a:t>
            </a:r>
          </a:p>
        </p:txBody>
      </p:sp>
      <p:sp>
        <p:nvSpPr>
          <p:cNvPr id="5" name="Body Paragraph"/>
          <p:cNvSpPr txBox="1"/>
          <p:nvPr/>
        </p:nvSpPr>
        <p:spPr>
          <a:xfrm>
            <a:off x="548640" y="1783080"/>
            <a:ext cx="5852160" cy="905256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Lithium-ion batteries are the most widely used type of battery in electric vehicles due to their high energy density and power-to-weight ratio.</a:t>
            </a:r>
          </a:p>
        </p:txBody>
      </p:sp>
      <p:sp>
        <p:nvSpPr>
          <p:cNvPr id="6" name="Bullet List"/>
          <p:cNvSpPr txBox="1"/>
          <p:nvPr/>
        </p:nvSpPr>
        <p:spPr>
          <a:xfrm>
            <a:off x="548640" y="2825496"/>
            <a:ext cx="5852160" cy="3346704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Solid-state cells: </a:t>
            </a:r>
            <a:r>
              <a:rPr sz="1800" b="0">
                <a:solidFill>
                  <a:srgbClr val="1F2937"/>
                </a:solidFill>
                <a:latin typeface="Calibri"/>
              </a:rPr>
              <a:t>higher energy density with lower fire risk</a:t>
            </a:r>
          </a:p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Sodium-ion batteries: </a:t>
            </a:r>
            <a:r>
              <a:rPr sz="1800" b="0">
                <a:solidFill>
                  <a:srgbClr val="1F2937"/>
                </a:solidFill>
                <a:latin typeface="Calibri"/>
              </a:rPr>
              <a:t>emerging alternative with similar performance</a:t>
            </a:r>
          </a:p>
        </p:txBody>
      </p:sp>
      <p:pic>
        <p:nvPicPr>
          <p:cNvPr id="7" name="Slide Image" descr="4a20cccde3da83e7bf6e8b53e3324edc519ea98c_1600.jpg"/>
          <p:cNvPicPr>
            <a:picLocks noChangeAspect="1"/>
          </p:cNvPicPr>
          <p:nvPr/>
        </p:nvPicPr>
        <p:blipFill>
          <a:blip r:embed="rId2"/>
          <a:srcRect l="2830" r="2830"/>
          <a:stretch>
            <a:fillRect/>
          </a:stretch>
        </p:blipFill>
        <p:spPr>
          <a:xfrm>
            <a:off x="6812280" y="1783080"/>
            <a:ext cx="4830775" cy="3840480"/>
          </a:xfrm>
          <a:prstGeom prst="rect">
            <a:avLst/>
          </a:prstGeom>
        </p:spPr>
      </p:pic>
      <p:sp>
        <p:nvSpPr>
          <p:cNvPr id="8" name="Image Caption"/>
          <p:cNvSpPr txBox="1"/>
          <p:nvPr/>
        </p:nvSpPr>
        <p:spPr>
          <a:xfrm>
            <a:off x="6812280" y="5678424"/>
            <a:ext cx="4830775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Image: batteryswapcabinet.com</a:t>
            </a:r>
          </a:p>
        </p:txBody>
      </p:sp>
      <p:sp>
        <p:nvSpPr>
          <p:cNvPr id="9" name="Slide Footer Title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Advancements in Electric Vehicle Battery Technology</a:t>
            </a:r>
          </a:p>
        </p:txBody>
      </p:sp>
      <p:sp>
        <p:nvSpPr>
          <p:cNvPr id="10" name="Slide Footer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 Accent"/>
          <p:cNvSpPr/>
          <p:nvPr/>
        </p:nvSpPr>
        <p:spPr>
          <a:xfrm>
            <a:off x="548640" y="384048"/>
            <a:ext cx="640080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 Title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b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0F2A44"/>
                </a:solidFill>
                <a:latin typeface="Calibri"/>
              </a:rPr>
              <a:t>Advancements in EV Battery Technology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Next-Generation Chemistries</a:t>
            </a:r>
          </a:p>
        </p:txBody>
      </p:sp>
      <p:sp>
        <p:nvSpPr>
          <p:cNvPr id="5" name="Body Paragraph"/>
          <p:cNvSpPr txBox="1"/>
          <p:nvPr/>
        </p:nvSpPr>
        <p:spPr>
          <a:xfrm>
            <a:off x="548640" y="1783080"/>
            <a:ext cx="5852160" cy="1161288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Researchers are exploring new battery chemistries, such as solid-state and sodium-ion batteries, to improve energy density and reduce costs.</a:t>
            </a:r>
          </a:p>
        </p:txBody>
      </p:sp>
      <p:sp>
        <p:nvSpPr>
          <p:cNvPr id="6" name="Bullet List"/>
          <p:cNvSpPr txBox="1"/>
          <p:nvPr/>
        </p:nvSpPr>
        <p:spPr>
          <a:xfrm>
            <a:off x="548640" y="3081528"/>
            <a:ext cx="5852160" cy="3090672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Lithium-air batteries: </a:t>
            </a:r>
            <a:r>
              <a:rPr sz="1800" b="0">
                <a:solidFill>
                  <a:srgbClr val="1F2937"/>
                </a:solidFill>
                <a:latin typeface="Calibri"/>
              </a:rPr>
              <a:t>potentially 5x more efficient than lithium-ion</a:t>
            </a:r>
          </a:p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Zinc-air batteries: </a:t>
            </a:r>
            <a:r>
              <a:rPr sz="1800" b="0">
                <a:solidFill>
                  <a:srgbClr val="1F2937"/>
                </a:solidFill>
                <a:latin typeface="Calibri"/>
              </a:rPr>
              <a:t>low-cost alternative with high energy density</a:t>
            </a:r>
          </a:p>
        </p:txBody>
      </p:sp>
      <p:pic>
        <p:nvPicPr>
          <p:cNvPr id="7" name="Slide Image" descr="54a3bf0f76d08b33804183d79d7bbbf5b64462ab_1600.jpg"/>
          <p:cNvPicPr>
            <a:picLocks noChangeAspect="1"/>
          </p:cNvPicPr>
          <p:nvPr/>
        </p:nvPicPr>
        <p:blipFill>
          <a:blip r:embed="rId2"/>
          <a:srcRect l="14623" r="14623"/>
          <a:stretch>
            <a:fillRect/>
          </a:stretch>
        </p:blipFill>
        <p:spPr>
          <a:xfrm>
            <a:off x="6812280" y="1783080"/>
            <a:ext cx="4830775" cy="3840480"/>
          </a:xfrm>
          <a:prstGeom prst="rect">
            <a:avLst/>
          </a:prstGeom>
        </p:spPr>
      </p:pic>
      <p:sp>
        <p:nvSpPr>
          <p:cNvPr id="8" name="Image Caption"/>
          <p:cNvSpPr txBox="1"/>
          <p:nvPr/>
        </p:nvSpPr>
        <p:spPr>
          <a:xfrm>
            <a:off x="6812280" y="5678424"/>
            <a:ext cx="4830775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Image: slideteam.net</a:t>
            </a:r>
          </a:p>
        </p:txBody>
      </p:sp>
      <p:sp>
        <p:nvSpPr>
          <p:cNvPr id="9" name="Slide Footer Title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Advancements in Electric Vehicle Battery Technology</a:t>
            </a:r>
          </a:p>
        </p:txBody>
      </p:sp>
      <p:sp>
        <p:nvSpPr>
          <p:cNvPr id="10" name="Slide Footer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 Accent"/>
          <p:cNvSpPr/>
          <p:nvPr/>
        </p:nvSpPr>
        <p:spPr>
          <a:xfrm>
            <a:off x="548640" y="384048"/>
            <a:ext cx="640080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 Title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b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0F2A44"/>
                </a:solidFill>
                <a:latin typeface="Calibri"/>
              </a:rPr>
              <a:t>Comparison of EV Battery Types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Pros and Cons</a:t>
            </a:r>
          </a:p>
        </p:txBody>
      </p:sp>
      <p:sp>
        <p:nvSpPr>
          <p:cNvPr id="5" name="Body Paragraph"/>
          <p:cNvSpPr txBox="1"/>
          <p:nvPr/>
        </p:nvSpPr>
        <p:spPr>
          <a:xfrm>
            <a:off x="548640" y="1783080"/>
            <a:ext cx="11094415" cy="649224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Each battery type has its advantages and disadvantages, making it crucial to choose the right technology for specific applications.</a:t>
            </a:r>
          </a:p>
        </p:txBody>
      </p:sp>
      <p:sp>
        <p:nvSpPr>
          <p:cNvPr id="6" name="Card"/>
          <p:cNvSpPr/>
          <p:nvPr/>
        </p:nvSpPr>
        <p:spPr>
          <a:xfrm>
            <a:off x="548640" y="2660904"/>
            <a:ext cx="5432907" cy="10972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Text"/>
          <p:cNvSpPr txBox="1"/>
          <p:nvPr/>
        </p:nvSpPr>
        <p:spPr>
          <a:xfrm>
            <a:off x="777240" y="2889504"/>
            <a:ext cx="4975707" cy="68580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>
              <a:lnSpc>
                <a:spcPct val="110000"/>
              </a:lnSpc>
            </a:pPr>
            <a:r>
              <a:rPr sz="1800" b="1">
                <a:solidFill>
                  <a:srgbClr val="0F2A44"/>
                </a:solidFill>
                <a:latin typeface="Calibri"/>
              </a:rPr>
              <a:t>Lithium-ion: </a:t>
            </a:r>
            <a:r>
              <a:rPr sz="1800" b="0">
                <a:solidFill>
                  <a:srgbClr val="1F2937"/>
                </a:solidFill>
                <a:latin typeface="Calibri"/>
              </a:rPr>
              <a:t>high energy density, but expensive and prone to fires</a:t>
            </a:r>
          </a:p>
        </p:txBody>
      </p:sp>
      <p:sp>
        <p:nvSpPr>
          <p:cNvPr id="8" name="Card"/>
          <p:cNvSpPr/>
          <p:nvPr/>
        </p:nvSpPr>
        <p:spPr>
          <a:xfrm>
            <a:off x="6210147" y="2660904"/>
            <a:ext cx="5432907" cy="10972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rd Text"/>
          <p:cNvSpPr txBox="1"/>
          <p:nvPr/>
        </p:nvSpPr>
        <p:spPr>
          <a:xfrm>
            <a:off x="6438747" y="2889504"/>
            <a:ext cx="4975707" cy="68580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>
              <a:lnSpc>
                <a:spcPct val="110000"/>
              </a:lnSpc>
            </a:pPr>
            <a:r>
              <a:rPr sz="1800" b="1">
                <a:solidFill>
                  <a:srgbClr val="0F2A44"/>
                </a:solidFill>
                <a:latin typeface="Calibri"/>
              </a:rPr>
              <a:t>Sodium-ion: </a:t>
            </a:r>
            <a:r>
              <a:rPr sz="1800" b="0">
                <a:solidFill>
                  <a:srgbClr val="1F2937"/>
                </a:solidFill>
                <a:latin typeface="Calibri"/>
              </a:rPr>
              <a:t>lower cost, but similar performance to lithium-ion</a:t>
            </a:r>
          </a:p>
        </p:txBody>
      </p:sp>
      <p:sp>
        <p:nvSpPr>
          <p:cNvPr id="10" name="Slide Footer Title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Advancements in Electric Vehicle Battery Technology</a:t>
            </a:r>
          </a:p>
        </p:txBody>
      </p:sp>
      <p:sp>
        <p:nvSpPr>
          <p:cNvPr id="11" name="Slide Footer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 Accent"/>
          <p:cNvSpPr/>
          <p:nvPr/>
        </p:nvSpPr>
        <p:spPr>
          <a:xfrm>
            <a:off x="548640" y="384048"/>
            <a:ext cx="640080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 Title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b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0F2A44"/>
                </a:solidFill>
                <a:latin typeface="Calibri"/>
              </a:rPr>
              <a:t>Future of EV Battery Technology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Emerging Trends and Innovations</a:t>
            </a:r>
          </a:p>
        </p:txBody>
      </p:sp>
      <p:sp>
        <p:nvSpPr>
          <p:cNvPr id="5" name="Body Paragraph"/>
          <p:cNvSpPr txBox="1"/>
          <p:nvPr/>
        </p:nvSpPr>
        <p:spPr>
          <a:xfrm>
            <a:off x="548640" y="1783080"/>
            <a:ext cx="5852160" cy="905256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The future of electric vehicle battery technology holds promise for further improvements in energy density, cost, and sustainability.</a:t>
            </a:r>
          </a:p>
        </p:txBody>
      </p:sp>
      <p:sp>
        <p:nvSpPr>
          <p:cNvPr id="6" name="Bullet List"/>
          <p:cNvSpPr txBox="1"/>
          <p:nvPr/>
        </p:nvSpPr>
        <p:spPr>
          <a:xfrm>
            <a:off x="548640" y="2825496"/>
            <a:ext cx="5852160" cy="3346704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Solid-state batteries: </a:t>
            </a:r>
            <a:r>
              <a:rPr sz="1800" b="0">
                <a:solidFill>
                  <a:srgbClr val="1F2937"/>
                </a:solidFill>
                <a:latin typeface="Calibri"/>
              </a:rPr>
              <a:t>potentially 10x more efficient than lithium-ion</a:t>
            </a:r>
          </a:p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Advanced materials: </a:t>
            </a:r>
            <a:r>
              <a:rPr sz="1800" b="0">
                <a:solidFill>
                  <a:srgbClr val="1F2937"/>
                </a:solidFill>
                <a:latin typeface="Calibri"/>
              </a:rPr>
              <a:t>enabling higher energy density and faster charging</a:t>
            </a:r>
          </a:p>
        </p:txBody>
      </p:sp>
      <p:pic>
        <p:nvPicPr>
          <p:cNvPr id="7" name="Slide Image" descr="028ca04a8324fd2cc65481f288ed3db4d561dd5e_1600.jpg"/>
          <p:cNvPicPr>
            <a:picLocks noChangeAspect="1"/>
          </p:cNvPicPr>
          <p:nvPr/>
        </p:nvPicPr>
        <p:blipFill>
          <a:blip r:embed="rId2"/>
          <a:srcRect l="14061" r="14061"/>
          <a:stretch>
            <a:fillRect/>
          </a:stretch>
        </p:blipFill>
        <p:spPr>
          <a:xfrm>
            <a:off x="6812280" y="1783080"/>
            <a:ext cx="4830775" cy="3840480"/>
          </a:xfrm>
          <a:prstGeom prst="rect">
            <a:avLst/>
          </a:prstGeom>
        </p:spPr>
      </p:pic>
      <p:sp>
        <p:nvSpPr>
          <p:cNvPr id="8" name="Image Caption"/>
          <p:cNvSpPr txBox="1"/>
          <p:nvPr/>
        </p:nvSpPr>
        <p:spPr>
          <a:xfrm>
            <a:off x="6812280" y="5678424"/>
            <a:ext cx="4830775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Image: drivegreenjourney.com</a:t>
            </a:r>
          </a:p>
        </p:txBody>
      </p:sp>
      <p:sp>
        <p:nvSpPr>
          <p:cNvPr id="9" name="Slide Footer Title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Advancements in Electric Vehicle Battery Technology</a:t>
            </a:r>
          </a:p>
        </p:txBody>
      </p:sp>
      <p:sp>
        <p:nvSpPr>
          <p:cNvPr id="10" name="Slide Footer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 Accent"/>
          <p:cNvSpPr/>
          <p:nvPr/>
        </p:nvSpPr>
        <p:spPr>
          <a:xfrm>
            <a:off x="548640" y="384048"/>
            <a:ext cx="640080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 Title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b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0F2A44"/>
                </a:solidFill>
                <a:latin typeface="Calibri"/>
              </a:rPr>
              <a:t>Challenges and Limitations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Addressing the Gaps</a:t>
            </a:r>
          </a:p>
        </p:txBody>
      </p:sp>
      <p:sp>
        <p:nvSpPr>
          <p:cNvPr id="5" name="Body Paragraph"/>
          <p:cNvSpPr txBox="1"/>
          <p:nvPr/>
        </p:nvSpPr>
        <p:spPr>
          <a:xfrm>
            <a:off x="548640" y="1783080"/>
            <a:ext cx="5852160" cy="905256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Despite advancements, electric vehicle battery technology still faces challenges related to energy density, cost, and sustainability.</a:t>
            </a:r>
          </a:p>
        </p:txBody>
      </p:sp>
      <p:sp>
        <p:nvSpPr>
          <p:cNvPr id="6" name="Bullet List"/>
          <p:cNvSpPr txBox="1"/>
          <p:nvPr/>
        </p:nvSpPr>
        <p:spPr>
          <a:xfrm>
            <a:off x="548640" y="2825496"/>
            <a:ext cx="5852160" cy="3346704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Limited recycling infrastructure: </a:t>
            </a:r>
            <a:r>
              <a:rPr sz="1800" b="0">
                <a:solidFill>
                  <a:srgbClr val="1F2937"/>
                </a:solidFill>
                <a:latin typeface="Calibri"/>
              </a:rPr>
              <a:t>hindering waste management</a:t>
            </a:r>
          </a:p>
          <a:p>
            <a:pPr marL="274320" indent="-274320">
              <a:lnSpc>
                <a:spcPct val="110000"/>
              </a:lnSpc>
              <a:spcAft>
                <a:spcPts val="1000"/>
              </a:spcAft>
              <a:buClr>
                <a:srgbClr val="0E9F9A"/>
              </a:buClr>
              <a:buFont typeface="Arial"/>
              <a:buChar char="•"/>
            </a:pPr>
            <a:r>
              <a:rPr sz="1800" b="1">
                <a:solidFill>
                  <a:srgbClr val="1F2937"/>
                </a:solidFill>
                <a:latin typeface="Calibri"/>
              </a:rPr>
              <a:t>High material costs: </a:t>
            </a:r>
            <a:r>
              <a:rPr sz="1800" b="0">
                <a:solidFill>
                  <a:srgbClr val="1F2937"/>
                </a:solidFill>
                <a:latin typeface="Calibri"/>
              </a:rPr>
              <a:t>affecting overall affordability</a:t>
            </a:r>
          </a:p>
        </p:txBody>
      </p:sp>
      <p:pic>
        <p:nvPicPr>
          <p:cNvPr id="7" name="Slide Image" descr="fe70263d9a3fa100ff8761d5764875eb3d98ac87_1600.jpg"/>
          <p:cNvPicPr>
            <a:picLocks noChangeAspect="1"/>
          </p:cNvPicPr>
          <p:nvPr/>
        </p:nvPicPr>
        <p:blipFill>
          <a:blip r:embed="rId2"/>
          <a:srcRect l="12186" r="12186"/>
          <a:stretch>
            <a:fillRect/>
          </a:stretch>
        </p:blipFill>
        <p:spPr>
          <a:xfrm>
            <a:off x="6812280" y="1783080"/>
            <a:ext cx="4830775" cy="3840480"/>
          </a:xfrm>
          <a:prstGeom prst="rect">
            <a:avLst/>
          </a:prstGeom>
        </p:spPr>
      </p:pic>
      <p:sp>
        <p:nvSpPr>
          <p:cNvPr id="8" name="Image Caption"/>
          <p:cNvSpPr txBox="1"/>
          <p:nvPr/>
        </p:nvSpPr>
        <p:spPr>
          <a:xfrm>
            <a:off x="6812280" y="5678424"/>
            <a:ext cx="4830775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Image: mdpi.com</a:t>
            </a:r>
          </a:p>
        </p:txBody>
      </p:sp>
      <p:sp>
        <p:nvSpPr>
          <p:cNvPr id="9" name="Slide Footer Title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Advancements in Electric Vehicle Battery Technology</a:t>
            </a:r>
          </a:p>
        </p:txBody>
      </p:sp>
      <p:sp>
        <p:nvSpPr>
          <p:cNvPr id="10" name="Slide Footer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 Accent"/>
          <p:cNvSpPr/>
          <p:nvPr/>
        </p:nvSpPr>
        <p:spPr>
          <a:xfrm>
            <a:off x="548640" y="384048"/>
            <a:ext cx="640080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 Title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b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Body Paragraph"/>
          <p:cNvSpPr txBox="1"/>
          <p:nvPr/>
        </p:nvSpPr>
        <p:spPr>
          <a:xfrm>
            <a:off x="548640" y="1783080"/>
            <a:ext cx="11094415" cy="649224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Calibri"/>
              </a:rPr>
              <a:t>In conclusion, electric vehicle battery technology has made significant progress in recent years, with emerging trends and innovations promising further improvements.</a:t>
            </a:r>
          </a:p>
        </p:txBody>
      </p:sp>
      <p:sp>
        <p:nvSpPr>
          <p:cNvPr id="5" name="Card"/>
          <p:cNvSpPr/>
          <p:nvPr/>
        </p:nvSpPr>
        <p:spPr>
          <a:xfrm>
            <a:off x="548640" y="2706624"/>
            <a:ext cx="5432907" cy="1746504"/>
          </a:xfrm>
          <a:prstGeom prst="roundRect">
            <a:avLst>
              <a:gd name="adj" fmla="val 6000"/>
            </a:avLst>
          </a:prstGeom>
          <a:solidFill>
            <a:srgbClr val="1B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ation Badge"/>
          <p:cNvSpPr/>
          <p:nvPr/>
        </p:nvSpPr>
        <p:spPr>
          <a:xfrm>
            <a:off x="777240" y="2935224"/>
            <a:ext cx="502920" cy="502920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Card Text"/>
          <p:cNvSpPr txBox="1"/>
          <p:nvPr/>
        </p:nvSpPr>
        <p:spPr>
          <a:xfrm>
            <a:off x="777240" y="3621024"/>
            <a:ext cx="4975707" cy="649224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Calibri"/>
              </a:rPr>
              <a:t>Advancements in solid-state and sodium-ion batteries</a:t>
            </a:r>
          </a:p>
        </p:txBody>
      </p:sp>
      <p:sp>
        <p:nvSpPr>
          <p:cNvPr id="8" name="Decoration Arrow"/>
          <p:cNvSpPr/>
          <p:nvPr/>
        </p:nvSpPr>
        <p:spPr>
          <a:xfrm>
            <a:off x="6008979" y="3470148"/>
            <a:ext cx="173736" cy="219456"/>
          </a:xfrm>
          <a:prstGeom prst="rightArrow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rd"/>
          <p:cNvSpPr/>
          <p:nvPr/>
        </p:nvSpPr>
        <p:spPr>
          <a:xfrm>
            <a:off x="6210147" y="2706624"/>
            <a:ext cx="5432907" cy="1746504"/>
          </a:xfrm>
          <a:prstGeom prst="roundRect">
            <a:avLst>
              <a:gd name="adj" fmla="val 6000"/>
            </a:avLst>
          </a:prstGeom>
          <a:solidFill>
            <a:srgbClr val="1B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coration Badge"/>
          <p:cNvSpPr/>
          <p:nvPr/>
        </p:nvSpPr>
        <p:spPr>
          <a:xfrm>
            <a:off x="6438747" y="2935224"/>
            <a:ext cx="502920" cy="502920"/>
          </a:xfrm>
          <a:prstGeom prst="ellipse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Card Text"/>
          <p:cNvSpPr txBox="1"/>
          <p:nvPr/>
        </p:nvSpPr>
        <p:spPr>
          <a:xfrm>
            <a:off x="6438747" y="3621024"/>
            <a:ext cx="4975707" cy="649224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Emerging chemistries: </a:t>
            </a:r>
            <a:r>
              <a:rPr sz="1800" b="0">
                <a:solidFill>
                  <a:srgbClr val="FFFFFF"/>
                </a:solidFill>
                <a:latin typeface="Calibri"/>
              </a:rPr>
              <a:t>lithium-air and zinc-air batteries</a:t>
            </a:r>
          </a:p>
        </p:txBody>
      </p:sp>
      <p:sp>
        <p:nvSpPr>
          <p:cNvPr id="12" name="Slide Footer Title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Advancements in Electric Vehicle Battery Technology</a:t>
            </a:r>
          </a:p>
        </p:txBody>
      </p:sp>
      <p:sp>
        <p:nvSpPr>
          <p:cNvPr id="13" name="Slide Footer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 Accent"/>
          <p:cNvSpPr/>
          <p:nvPr/>
        </p:nvSpPr>
        <p:spPr>
          <a:xfrm>
            <a:off x="548640" y="384048"/>
            <a:ext cx="640080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 Title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b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0F2A44"/>
                </a:solidFill>
                <a:latin typeface="Calibri"/>
              </a:rPr>
              <a:t>Slide 8</a:t>
            </a:r>
          </a:p>
        </p:txBody>
      </p:sp>
      <p:sp>
        <p:nvSpPr>
          <p:cNvPr id="4" name="Body Paragraph"/>
          <p:cNvSpPr txBox="1"/>
          <p:nvPr/>
        </p:nvSpPr>
        <p:spPr>
          <a:xfrm>
            <a:off x="548640" y="1783080"/>
            <a:ext cx="11094415" cy="77724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| Battery Type | Energy Density (Wh/kg) | Cost ($/kWh) |
| --- | --- | --- |
| Lithium-ion | 150-200 | 100-150 |
| Sodium-ion | 120-180 | 80-120 |
| Solid-state | 250-300 | 50-80 |
| Lithium-air | 500-600 | 20-30 |
| Zinc-air | 400-500 | 15-25 |</a:t>
            </a:r>
          </a:p>
        </p:txBody>
      </p:sp>
      <p:graphicFrame>
        <p:nvGraphicFramePr>
          <p:cNvPr id="5" name="Content Table"/>
          <p:cNvGraphicFramePr>
            <a:graphicFrameLocks noGrp="1"/>
          </p:cNvGraphicFramePr>
          <p:nvPr/>
        </p:nvGraphicFramePr>
        <p:xfrm>
          <a:off x="548640" y="2743200"/>
          <a:ext cx="11094414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4195"/>
                <a:gridCol w="5306024"/>
                <a:gridCol w="2894195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Battery Type</a:t>
                      </a:r>
                    </a:p>
                  </a:txBody>
                  <a:tcPr anchor="ctr" marL="91440" marR="91440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Energy Density (Wh/kg)</a:t>
                      </a:r>
                    </a:p>
                  </a:txBody>
                  <a:tcPr anchor="ctr" marL="91440" marR="91440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Cost ($/kWh)</a:t>
                      </a:r>
                    </a:p>
                  </a:txBody>
                  <a:tcPr anchor="ctr" marL="91440" marR="91440">
                    <a:solidFill>
                      <a:srgbClr val="0F2A4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Lithium-ion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150-200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100-150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Sodium-ion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120-180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80-120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Solid-state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250-300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50-80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Lithium-air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500-600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20-30</a:t>
                      </a:r>
                    </a:p>
                  </a:txBody>
                  <a:tcPr anchor="ctr" marL="91440" marR="91440"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Zinc-air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400-500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15-25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lide Footer Title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Advancements in Electric Vehicle Battery Technology</a:t>
            </a:r>
          </a:p>
        </p:txBody>
      </p:sp>
      <p:sp>
        <p:nvSpPr>
          <p:cNvPr id="7" name="Slide Footer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on Accent"/>
          <p:cNvSpPr/>
          <p:nvPr/>
        </p:nvSpPr>
        <p:spPr>
          <a:xfrm>
            <a:off x="548640" y="384048"/>
            <a:ext cx="640080" cy="64008"/>
          </a:xfrm>
          <a:prstGeom prst="rect">
            <a:avLst/>
          </a:prstGeom>
          <a:solidFill>
            <a:srgbClr val="0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 Title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b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0F2A44"/>
                </a:solidFill>
                <a:latin typeface="Calibri"/>
              </a:rPr>
              <a:t>Sources &amp; Image Credits</a:t>
            </a:r>
          </a:p>
        </p:txBody>
      </p:sp>
      <p:sp>
        <p:nvSpPr>
          <p:cNvPr id="4" name="Slide Subtitle"/>
          <p:cNvSpPr txBox="1"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Calibri"/>
              </a:rPr>
              <a:t>Research and images used in this presentation</a:t>
            </a:r>
          </a:p>
        </p:txBody>
      </p:sp>
      <p:sp>
        <p:nvSpPr>
          <p:cNvPr id="5" name="Bullet List"/>
          <p:cNvSpPr txBox="1"/>
          <p:nvPr/>
        </p:nvSpPr>
        <p:spPr>
          <a:xfrm>
            <a:off x="548640" y="1783080"/>
            <a:ext cx="11094415" cy="43891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Calibri"/>
              </a:rPr>
              <a:t>Electric vehicle battery - Wikipedia</a:t>
            </a:r>
            <a:r>
              <a:rPr sz="1100" b="0">
                <a:solidFill>
                  <a:srgbClr val="0E9F9A"/>
                </a:solidFill>
                <a:latin typeface="Calibri"/>
                <a:hlinkClick r:id="rId2"/>
              </a:rPr>
              <a:t>  —  en.wikipedia.org/wiki/Electric_vehicle_battery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Calibri"/>
              </a:rPr>
              <a:t>Guide to Electric Vehicle Battery Technology | Updated 2026 - ACTE</a:t>
            </a:r>
            <a:r>
              <a:rPr sz="1100" b="0">
                <a:solidFill>
                  <a:srgbClr val="0E9F9A"/>
                </a:solidFill>
                <a:latin typeface="Calibri"/>
                <a:hlinkClick r:id="rId3"/>
              </a:rPr>
              <a:t>  —  acte.in/ev-battery-guide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Calibri"/>
              </a:rPr>
              <a:t>What's next for EV batteries in 2026 | MIT Technology Review</a:t>
            </a:r>
            <a:r>
              <a:rPr sz="1100" b="0">
                <a:solidFill>
                  <a:srgbClr val="0E9F9A"/>
                </a:solidFill>
                <a:latin typeface="Calibri"/>
                <a:hlinkClick r:id="rId4"/>
              </a:rPr>
              <a:t>  —  technologyreview.com/2026/02/02/1132042/whats-next-for-ev-batteries-i…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Calibri"/>
              </a:rPr>
              <a:t>Electric vehicles: Battery technologies, charging standards, AI ...</a:t>
            </a:r>
            <a:r>
              <a:rPr sz="1100" b="0">
                <a:solidFill>
                  <a:srgbClr val="0E9F9A"/>
                </a:solidFill>
                <a:latin typeface="Calibri"/>
                <a:hlinkClick r:id="rId5"/>
              </a:rPr>
              <a:t>  —  sciencedirect.com/science/article/pii/S2590174524002290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Calibri"/>
              </a:rPr>
              <a:t>The Evolution of Electric Vehicle Battery Technology</a:t>
            </a:r>
            <a:r>
              <a:rPr sz="1100" b="0">
                <a:solidFill>
                  <a:srgbClr val="0E9F9A"/>
                </a:solidFill>
                <a:latin typeface="Calibri"/>
                <a:hlinkClick r:id="rId6"/>
              </a:rPr>
              <a:t>  —  mobilityglobal.com/en-us/automotive-insights/blog/the-evolution-of-el…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Calibri"/>
              </a:rPr>
              <a:t>Battery types and recent developments for energy storage in electric ...</a:t>
            </a:r>
            <a:r>
              <a:rPr sz="1100" b="0">
                <a:solidFill>
                  <a:srgbClr val="0E9F9A"/>
                </a:solidFill>
                <a:latin typeface="Calibri"/>
                <a:hlinkClick r:id="rId7"/>
              </a:rPr>
              <a:t>  —  academic.oup.com/ce/article/9/6/293/8256348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Calibri"/>
              </a:rPr>
              <a:t>How Do Electric Vehicles Work? A Simple Guide to EV Technology, Motors ...</a:t>
            </a:r>
            <a:r>
              <a:rPr sz="1100" b="0">
                <a:solidFill>
                  <a:srgbClr val="0E9F9A"/>
                </a:solidFill>
                <a:latin typeface="Calibri"/>
                <a:hlinkClick r:id="rId8"/>
              </a:rPr>
              <a:t>  —  sciencetimes.com/articles/60797/20251115/how-do-electric-vehicles-wor…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Calibri"/>
              </a:rPr>
              <a:t>EV Battery Technology: What's Coming Now, Tomorrow, and the Far Future</a:t>
            </a:r>
            <a:r>
              <a:rPr sz="1100" b="0">
                <a:solidFill>
                  <a:srgbClr val="0E9F9A"/>
                </a:solidFill>
                <a:latin typeface="Calibri"/>
                <a:hlinkClick r:id="rId9"/>
              </a:rPr>
              <a:t>  —  motortrend.com/news/ev-battery-technology-future-emerging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Calibri"/>
              </a:rPr>
              <a:t>Image (slide: Introduction to EV Batteries) — evautostreet.com</a:t>
            </a:r>
            <a:r>
              <a:rPr sz="1100" b="0">
                <a:solidFill>
                  <a:srgbClr val="0E9F9A"/>
                </a:solidFill>
                <a:latin typeface="Calibri"/>
                <a:hlinkClick r:id="rId10"/>
              </a:rPr>
              <a:t>  —  evautostreet.com/what-are-ev-batteries-a-complete-beginners-guide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Calibri"/>
              </a:rPr>
              <a:t>Image (slide: Current EV Battery Technologies) — batteryswapcabinet.com</a:t>
            </a:r>
            <a:r>
              <a:rPr sz="1100" b="0">
                <a:solidFill>
                  <a:srgbClr val="0E9F9A"/>
                </a:solidFill>
                <a:latin typeface="Calibri"/>
                <a:hlinkClick r:id="rId11"/>
              </a:rPr>
              <a:t>  —  batteryswapcabinet.com/top-10-ev-battery-technologies-which-is-the-be…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Calibri"/>
              </a:rPr>
              <a:t>Image (slide: Advancements in EV Battery Technology) — slideteam.net</a:t>
            </a:r>
            <a:r>
              <a:rPr sz="1100" b="0">
                <a:solidFill>
                  <a:srgbClr val="0E9F9A"/>
                </a:solidFill>
                <a:latin typeface="Calibri"/>
                <a:hlinkClick r:id="rId12"/>
              </a:rPr>
              <a:t>  —  slideteam.net/major-advancements-in-ev-battery-technology-exploring-o…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Calibri"/>
              </a:rPr>
              <a:t>Image (slide: Future of EV Battery Technology) — drivegreenjourney.com</a:t>
            </a:r>
            <a:r>
              <a:rPr sz="1100" b="0">
                <a:solidFill>
                  <a:srgbClr val="0E9F9A"/>
                </a:solidFill>
                <a:latin typeface="Calibri"/>
                <a:hlinkClick r:id="rId13"/>
              </a:rPr>
              <a:t>  —  drivegreenjourney.com/ev-battery-technology-is-shaping-the-future</a:t>
            </a:r>
          </a:p>
          <a:p>
            <a:pPr marL="228600" indent="-228600">
              <a:spcAft>
                <a:spcPts val="500"/>
              </a:spcAft>
              <a:buClr>
                <a:srgbClr val="0E9F9A"/>
              </a:buClr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Calibri"/>
              </a:rPr>
              <a:t>Image (slide: Challenges and Limitations) — mdpi.com</a:t>
            </a:r>
            <a:r>
              <a:rPr sz="1100" b="0">
                <a:solidFill>
                  <a:srgbClr val="0E9F9A"/>
                </a:solidFill>
                <a:latin typeface="Calibri"/>
                <a:hlinkClick r:id="rId14"/>
              </a:rPr>
              <a:t>  —  mdpi.com/2313-0105/11/6/209</a:t>
            </a:r>
          </a:p>
        </p:txBody>
      </p:sp>
      <p:sp>
        <p:nvSpPr>
          <p:cNvPr id="6" name="Slide Footer Title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Advancements in Electric Vehicle Battery Technology</a:t>
            </a:r>
          </a:p>
        </p:txBody>
      </p:sp>
      <p:sp>
        <p:nvSpPr>
          <p:cNvPr id="7" name="Slide Footer"/>
          <p:cNvSpPr txBox="1"/>
          <p:nvPr/>
        </p:nvSpPr>
        <p:spPr>
          <a:xfrm>
            <a:off x="10911535" y="6419088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27432" bIns="27432">
            <a:no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